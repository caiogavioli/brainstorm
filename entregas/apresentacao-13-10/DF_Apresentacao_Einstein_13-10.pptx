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22293f7-6e42-a9ca-299e-968f896258a2}">
          <p14:sldIdLst>
            <p14:sldId id="256"/>
            <p14:sldId id="257"/>
          </p14:sldIdLst>
        </p14:section>
        <p14:section name="O que entendemos" id="{68520128-8902-a286-62fa-ea472af668a0}">
          <p14:sldIdLst>
            <p14:sldId id="258"/>
            <p14:sldId id="259"/>
          </p14:sldIdLst>
        </p14:section>
        <p14:section name="Quem é a DF" id="{76f1d299-85e7-f8a1-4532-2d29fa01afed}">
          <p14:sldIdLst>
            <p14:sldId id="260"/>
            <p14:sldId id="261"/>
            <p14:sldId id="262"/>
            <p14:sldId id="263"/>
          </p14:sldIdLst>
        </p14:section>
        <p14:section name="Como vamos atuar" id="{087a4820-b903-d3ca-f83f-c88210ccef35}">
          <p14:sldIdLst>
            <p14:sldId id="264"/>
            <p14:sldId id="265"/>
            <p14:sldId id="266"/>
            <p14:sldId id="267"/>
          </p14:sldIdLst>
        </p14:section>
        <p14:section name="O que o Einstein recebe" id="{e303e1f8-d744-8b93-2a6b-0968bea5f325}">
          <p14:sldIdLst>
            <p14:sldId id="268"/>
            <p14:sldId id="269"/>
            <p14:sldId id="270"/>
          </p14:sldIdLst>
        </p14:section>
        <p14:section name="Como a DF controla" id="{0624dbdb-d90a-366f-9bd8-a239e2b6c20d}">
          <p14:sldIdLst>
            <p14:sldId id="271"/>
            <p14:sldId id="272"/>
            <p14:sldId id="273"/>
          </p14:sldIdLst>
        </p14:section>
        <p14:section name="Escopo e premissas" id="{5daf3c12-f14a-0451-854b-28d9d34c599f}">
          <p14:sldIdLst>
            <p14:sldId id="274"/>
            <p14:sldId id="275"/>
            <p14:sldId id="276"/>
          </p14:sldIdLst>
        </p14:section>
        <p14:section name="Apoio para perguntas" id="{5fa9b54b-bfed-7a74-02f4-f7d422343411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F4162"/>
                </a:solidFill>
                <a:latin typeface="+mn-lt"/>
              </a:rPr>
              <a:t>Horas dedicadas por mês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Titular presencial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24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Titular remoto</c:v>
                </c:pt>
              </c:strCache>
            </c:strRef>
          </c:tx>
          <c:spPr>
            <a:solidFill>
              <a:srgbClr val="7E9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12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Visita técnica</c:v>
                </c:pt>
              </c:strCache>
            </c:strRef>
          </c:tx>
          <c:spPr>
            <a:solidFill>
              <a:srgbClr val="B89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</c:v>
                </c:pt>
                <c:pt idx="1">
                  <c:v>12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F4162"/>
                </a:solidFill>
                <a:latin typeface="+mn-lt"/>
              </a:rPr>
              <a:t>Despesa do setor — orçado × realizado (R$ mil)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CBD5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412</c:v>
                </c:pt>
                <c:pt idx="1">
                  <c:v>415</c:v>
                </c:pt>
                <c:pt idx="2">
                  <c:v>418</c:v>
                </c:pt>
                <c:pt idx="3">
                  <c:v>420</c:v>
                </c:pt>
                <c:pt idx="4">
                  <c:v>421</c:v>
                </c:pt>
                <c:pt idx="5">
                  <c:v>425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</c:v>
                </c:pt>
                <c:pt idx="1">
                  <c:v>431</c:v>
                </c:pt>
                <c:pt idx="2">
                  <c:v>416</c:v>
                </c:pt>
                <c:pt idx="3">
                  <c:v>437</c:v>
                </c:pt>
                <c:pt idx="4">
                  <c:v>419</c:v>
                </c:pt>
                <c:pt idx="5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38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abre: agradece o convite da Tami e do time, apresenta a si e ao Caio, e diz o objetivo: mostrar como a DF vai representar o Einstein nas três unidades e responder todas as dúvidas. Tempo: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~40 minutos de apresentação e o restante para perguntas. Apresenta rapidamente quem está na sala pela DF e em que cada um pode ajudar nas perguntas (Amanda: jurídico/convenção; Marco: financeiro/rateio; Cláudia: LGPD).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lidera (visitou o Parque Global em 24/09 e leu o workshop). Mensagem: lemos o material do Einstein e entendemos que são três situações diferentes. Pinheiros: o Einstein assumiu da administradora os sistemas críticos — isso tem efeito direto no rateio. Artur de Azevedo: posição defensiva. Parque Global: governança entre setores. Não citar nomes de administradoras.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este é o argumento central da DF. A DF não é administradora predial e não concorre com ela — fiscaliza a administradora em nome do Einstein. Reforçar: subsíndico setorial, não substitui o Síndico Geral, não vota sem autorização. Evitar falar em 'convocar/presidir assembleias' ou 'aprovar despesas' — a decisão é sempre do Einstein.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números de porte. Destacar que a DF está do lado de quem precisa de uma representação técnica e independente: jurídico, engenharia e financeiro dentro de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apresenta a equipe; pode pedir que Amanda, Marco e Cláudia se apresentem em 15 segundos cada. Atenção: a proposta enviada grafou 'Marco Murilo' — o nome correto no convite é Marco Murino.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conta o SPHQ I (correção por deliberação de assembleia, sem precisar reformar a convenção). CAIO conta o 17007 — a garagem é um paralelo direto com Pinheiros, onde o Einstein opera o estacionamento. Não temos o valor em R$ desses ajustes: se perguntarem, responder qualitativamente e oferecer o contato da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é o case mais próximo da RFP. A locação do Sírio-Libanês é pública, pode citar. Mensagem: já operamos hoje a convivência de hospital com outros usos e sabemos o que vira crítico. Passeio Paulista e Arquipeo em uma frase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explica as três fases. Exemplo genérico (sem citar a administradora): em Pinheiros o Einstein opera sistemas que atendem também o mall — é exatamente o subsídio cruzado que a RFP quer evitar. Marco pode complementar a parte de balancete se perguntarem.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 Tami disse que não há mínimo de visitas e pediu a recomendação de cada proponente. Explicar a lógica: dedicação proporcional à complexidade; Pinheiros reforçado durante a implantação e o primeiro semestre de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aqui equalizamos os SLAs com a referência do e-mail de 30/09. Diferença em relação à proposta enviada: a primeira resposta da demanda ordinária passa de 2 dias úteis para 1 dia útil, e a crítica ganha 'plano de ação em até 4 horas'. Dizer explicitamente que a DF formaliza esse ajuste por escrito após 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(Amanda pode complementar a parte jurídica). Este slide responde ao maior receio da RFP — a regra aparece três vezes no edital. Conecta com o item 5 do e-mail de 30/09: preparação prévia, recomendação técnica, escalonamento, registro e comunicação estruturada.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mostra o formato do produto que o Einstein vai receber. Deixar claro que os números são fictícios. O dashboard é entregue como relatório mensal (não é um sistema online). Reforçar: os seis entregáveis da RFP foram aceitos formalmente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cronograma. Do Einstein, a DF precisa de: ata de eleição, procurações aplicáveis, contratos, convenção, pastas de prestação de contas e contatos da administradora e do síndico geral. A Previsão Orçamentária 2027 é a vitória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abre; CLÁUDIA pode falar 30 segundos sobre LGPD se a banca demonstrar interesse. Ponto-chave: o serviço não depende de uma pessoa só (exigência do item 10.1 da RFP).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sistema desenvolvido pela DF e em operação. Mostrar que a fiscalização da administradora é feita com dados. Não é um sistema que o Einstein precisa usar — é a ferramenta da DF que alimenta os relatórios. Se perguntarem sobre LGPD: dados nos ambientes autorizados, acesso por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duas automações da DF em operação. A triagem diária garante que nenhuma demanda se perca entre e-mails; a cobrança semanal mantém a documentação legal dos prédios em dia. Ligar com o slide de SLA.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e CAIO: relatórios elaborados pela DF no padrão que o Einstein receberia numa ocorrência crítica (apuração multi-prestador) e numa revisão de contrato (auditoria). Não citar os clientes nem os prédios — o próprio slide diz que é por sigilo. Se pedirem, oferecer mostrar uma versão anonimizada após a contratação.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responde o item 6 do e-mail de 30/09 (deslocamentos, especialistas externos, pareceres jurídicos especializados, laudos). Terceira coluna: reforça a separação governança × operação, sem atacar concorrentes. Se perguntarem de preço: a proposta comercial já foi enviada; não discutir valores nesta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fecha a parte expositiva com os quatro motivos. Pausa e passa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encerra e abre para perguntas. Usar os slides de apoio (anexo) conforme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como a DF classifica 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o que a DF precisa para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2F4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25880" cy="8412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92608"/>
            <a:ext cx="658368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DF Síndicos Profissionais  ·  Defesa técnica — Representante Condominial Einstein  ·  Confidencial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DEFESA TÉCNICA DA PROPOSTA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Representante Condominial — Subsíndico Profissional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4"/>
                </a:solidFill>
              </a:rPr>
              <a:t>Einstein  ·  Parque Global  ·  Unidade Hospitalar Pinheiros  ·  Espaço Einstein Artur de Azevedo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Denise Ferreira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CEO   ·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Caio Gavioli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Diretor de Operações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5623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13 de outubro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Agenda</a:t>
            </a:r>
            <a:endParaRPr lang="en-US" sz="3000" dirty="0"/>
          </a:p>
        </p:txBody>
      </p:sp>
      <p:sp>
        <p:nvSpPr>
          <p:cNvPr id="3" name="agenda-0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entendemos do Einstein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As três unidades e o papel do subsíndico</a:t>
            </a:r>
            <a:endParaRPr lang="en-US" sz="1400" dirty="0"/>
          </a:p>
        </p:txBody>
      </p:sp>
      <p:sp>
        <p:nvSpPr>
          <p:cNvPr id="7" name="agenda-02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Quem é a DF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Números, equipe e cases semelhantes</a:t>
            </a:r>
            <a:endParaRPr lang="en-US" sz="1400" dirty="0"/>
          </a:p>
        </p:txBody>
      </p:sp>
      <p:sp>
        <p:nvSpPr>
          <p:cNvPr id="11" name="agenda-03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Como vamos atuar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Rateio, presença, SLAs e governança de voto</a:t>
            </a:r>
            <a:endParaRPr lang="en-US" sz="1400" dirty="0"/>
          </a:p>
        </p:txBody>
      </p:sp>
      <p:sp>
        <p:nvSpPr>
          <p:cNvPr id="15" name="agenda-0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o Einstein recebe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Entregáveis, mobilização, continuidade e controles DF</a:t>
            </a:r>
            <a:endParaRPr lang="en-US" sz="1400" dirty="0"/>
          </a:p>
        </p:txBody>
      </p:sp>
      <p:sp>
        <p:nvSpPr>
          <p:cNvPr id="19" name="agenda-05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Escopo e premissas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 que está incluído e onde termina o nosso papel</a:t>
            </a:r>
            <a:endParaRPr lang="en-US" sz="1400" dirty="0"/>
          </a:p>
        </p:txBody>
      </p:sp>
      <p:sp>
        <p:nvSpPr>
          <p:cNvPr id="23" name="agenda-06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Perguntas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Saneamento das dúvidas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Pela DF na reunião: Denise Ferreira · Caio Gavioli · Amanda Tigre · Marco Murino · Cláudia De Santi · André Ferreira da Silva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Três unidades, três desafios diferentes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 único modelo não serve às três — por isso a dedicação e o foco mudam por unidade</a:t>
            </a:r>
            <a:endParaRPr lang="en-US" sz="1500" dirty="0"/>
          </a:p>
        </p:txBody>
      </p:sp>
      <p:sp>
        <p:nvSpPr>
          <p:cNvPr id="4" name="unidade-0"/>
          <p:cNvSpPr/>
          <p:nvPr/>
        </p:nvSpPr>
        <p:spPr>
          <a:xfrm>
            <a:off x="54864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Parque Global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COMPLEXO MULTIUSO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Setores e subcondomínios com despesas comuns e específicas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Múltiplos stakeholders e governança descentralizada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Maior complexidade de governança das três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governança setorial e segregação de despesas</a:t>
            </a:r>
            <a:endParaRPr lang="en-US" sz="1300" dirty="0"/>
          </a:p>
        </p:txBody>
      </p:sp>
      <p:sp>
        <p:nvSpPr>
          <p:cNvPr id="11" name="unidade-1"/>
          <p:cNvSpPr/>
          <p:nvPr/>
        </p:nvSpPr>
        <p:spPr>
          <a:xfrm>
            <a:off x="429768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icone-fundo"/>
          <p:cNvSpPr/>
          <p:nvPr/>
        </p:nvSpPr>
        <p:spPr>
          <a:xfrm>
            <a:off x="457200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063" y="201058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Unidade Hospitalar Pinheiros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OCUPANTE MAJORITÁRIO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Einstein com ~95% de ocupação; mall com ~5%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Sistemas críticos operados diretamente pelo Einstein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Entrega da obra out/2026, operação jan/2027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rateio dos sistemas críticos e implantação</a:t>
            </a:r>
            <a:endParaRPr lang="en-US" sz="1300" dirty="0"/>
          </a:p>
        </p:txBody>
      </p:sp>
      <p:sp>
        <p:nvSpPr>
          <p:cNvPr id="18" name="unidade-2"/>
          <p:cNvSpPr/>
          <p:nvPr/>
        </p:nvSpPr>
        <p:spPr>
          <a:xfrm>
            <a:off x="804672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32104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103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Espaço Einstein Artur de Azevedo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CONDÔMINO MINORITÁRIO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~1.400 m² no térreo e 1º pavimento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Edifício de terceiros, com outros usos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Necessidades específicas de operação de saúde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pagar só o que é seu e defender a operação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subsíndico é governança — a operação é da administradora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Separar quem executa de quem fiscaliza é o que dá ao Einstein uma representação independente</a:t>
            </a:r>
            <a:endParaRPr lang="en-US" sz="1500" dirty="0"/>
          </a:p>
        </p:txBody>
      </p:sp>
      <p:sp>
        <p:nvSpPr>
          <p:cNvPr id="4" name="papel-0"/>
          <p:cNvSpPr/>
          <p:nvPr/>
        </p:nvSpPr>
        <p:spPr>
          <a:xfrm>
            <a:off x="54864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EINSTEIN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Decide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Aprova votos e posicionamentos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Define alçadas e prioridades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Recebe análises e recomendações</a:t>
            </a:r>
            <a:endParaRPr lang="en-US" sz="1400" dirty="0"/>
          </a:p>
        </p:txBody>
      </p:sp>
      <p:pic>
        <p:nvPicPr>
          <p:cNvPr id="8" name="set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992" y="3429000"/>
            <a:ext cx="201168" cy="365760"/>
          </a:xfrm>
          <a:prstGeom prst="rect">
            <a:avLst/>
          </a:prstGeom>
        </p:spPr>
      </p:pic>
      <p:sp>
        <p:nvSpPr>
          <p:cNvPr id="9" name="papel-1"/>
          <p:cNvSpPr/>
          <p:nvPr/>
        </p:nvSpPr>
        <p:spPr>
          <a:xfrm>
            <a:off x="361188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4048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DF — SUBSÍNDICA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Representa e fiscaliza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Representa o Einstein nas instâncias condominiais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Analisa orçamento, rateio, contratos e contas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Fiscaliza e cobra a administradora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Recomenda — nunca vota sem autorização</a:t>
            </a:r>
            <a:endParaRPr lang="en-US" sz="1400" dirty="0"/>
          </a:p>
        </p:txBody>
      </p:sp>
      <p:pic>
        <p:nvPicPr>
          <p:cNvPr id="13" name="se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429000"/>
            <a:ext cx="201168" cy="365760"/>
          </a:xfrm>
          <a:prstGeom prst="rect">
            <a:avLst/>
          </a:prstGeom>
        </p:spPr>
      </p:pic>
      <p:sp>
        <p:nvSpPr>
          <p:cNvPr id="14" name="papel-2"/>
          <p:cNvSpPr/>
          <p:nvPr/>
        </p:nvSpPr>
        <p:spPr>
          <a:xfrm>
            <a:off x="667512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0372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2A37"/>
                </a:solidFill>
              </a:rPr>
              <a:t>ADMINISTRADORA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90372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Executa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90372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Operação diária, equipes e fornecedores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Contas a pagar e receber, boletos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Elabora balancetes e prestação de contas</a:t>
            </a:r>
            <a:endParaRPr lang="en-US" sz="1400" dirty="0"/>
          </a:p>
        </p:txBody>
      </p:sp>
      <p:sp>
        <p:nvSpPr>
          <p:cNvPr id="18" name="alerta"/>
          <p:cNvSpPr/>
          <p:nvPr/>
        </p:nvSpPr>
        <p:spPr>
          <a:xfrm>
            <a:off x="9829800" y="1645920"/>
            <a:ext cx="1828800" cy="3931920"/>
          </a:xfrm>
          <a:prstGeom prst="roundRect">
            <a:avLst>
              <a:gd name="adj" fmla="val 4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10460736" y="1874520"/>
            <a:ext cx="566928" cy="566928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6799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66960" y="2606040"/>
            <a:ext cx="1554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Se a administradora ocupar também a subsindicância, quem fiscaliza a administradora?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Subsíndico setorial, nos termos da convenção: não substitui o Síndico Geral e atua sempre dentro das alçadas definidas pelo Einstein.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DF em números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Sindicância profissional de empreendimentos corporativos, multiuso e logísticos em São Paulo e no Rio de Janeiro</a:t>
            </a:r>
            <a:endParaRPr lang="en-US" sz="1500" dirty="0"/>
          </a:p>
        </p:txBody>
      </p:sp>
      <p:sp>
        <p:nvSpPr>
          <p:cNvPr id="4" name="numero-0"/>
          <p:cNvSpPr/>
          <p:nvPr/>
        </p:nvSpPr>
        <p:spPr>
          <a:xfrm>
            <a:off x="548640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40+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condomínios sob gestão</a:t>
            </a:r>
            <a:endParaRPr lang="en-US" sz="1500" dirty="0"/>
          </a:p>
        </p:txBody>
      </p:sp>
      <p:sp>
        <p:nvSpPr>
          <p:cNvPr id="7" name="numero-1"/>
          <p:cNvSpPr/>
          <p:nvPr/>
        </p:nvSpPr>
        <p:spPr>
          <a:xfrm>
            <a:off x="3364992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2 mi m²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área locável sob gestão</a:t>
            </a:r>
            <a:endParaRPr lang="en-US" sz="1500" dirty="0"/>
          </a:p>
        </p:txBody>
      </p:sp>
      <p:sp>
        <p:nvSpPr>
          <p:cNvPr id="10" name="numero-2"/>
          <p:cNvSpPr/>
          <p:nvPr/>
        </p:nvSpPr>
        <p:spPr>
          <a:xfrm>
            <a:off x="6181344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R$ 24 mi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OPEX mensal sob gestão</a:t>
            </a:r>
            <a:endParaRPr lang="en-US" sz="1500" dirty="0"/>
          </a:p>
        </p:txBody>
      </p:sp>
      <p:sp>
        <p:nvSpPr>
          <p:cNvPr id="13" name="numero-3"/>
          <p:cNvSpPr/>
          <p:nvPr/>
        </p:nvSpPr>
        <p:spPr>
          <a:xfrm>
            <a:off x="8997696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R$ 35 mi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CAPEX por ano sob gestão</a:t>
            </a:r>
            <a:endParaRPr lang="en-US" sz="1500" dirty="0"/>
          </a:p>
        </p:txBody>
      </p:sp>
      <p:sp>
        <p:nvSpPr>
          <p:cNvPr id="16" name="icone-fundo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5012741"/>
            <a:ext cx="261518" cy="2615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8872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Síndica profissional desde 2000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Trajetória da fundadora, com 16 anos à frente da divisão imobiliária de um family office de acionistas do Itaú</a:t>
            </a:r>
            <a:endParaRPr lang="en-US" sz="1300" dirty="0"/>
          </a:p>
        </p:txBody>
      </p:sp>
      <p:sp>
        <p:nvSpPr>
          <p:cNvPr id="20" name="icone-fundo"/>
          <p:cNvSpPr/>
          <p:nvPr/>
        </p:nvSpPr>
        <p:spPr>
          <a:xfrm>
            <a:off x="429768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5012741"/>
            <a:ext cx="261518" cy="2615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93776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Jurídico e engenharia na casa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493776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Sócias advogadas em Direito Imobiliário e diretor de operações engenheiro eletricista</a:t>
            </a:r>
            <a:endParaRPr lang="en-US" sz="1300" dirty="0"/>
          </a:p>
        </p:txBody>
      </p:sp>
      <p:sp>
        <p:nvSpPr>
          <p:cNvPr id="24" name="icone-fundo"/>
          <p:cNvSpPr/>
          <p:nvPr/>
        </p:nvSpPr>
        <p:spPr>
          <a:xfrm>
            <a:off x="804672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5012741"/>
            <a:ext cx="261518" cy="26151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68680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Clientes de primeira linha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68680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Gestoras, fundos e proprietários de ativos AAA, com atestados de capacidade técnica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Equipe dedicada ao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Uma titular, dois substitutos qualificados e retaguarda especializada — o serviço não depende de uma pessoa só</a:t>
            </a:r>
            <a:endParaRPr lang="en-US" sz="1500" dirty="0"/>
          </a:p>
        </p:txBody>
      </p:sp>
      <p:pic>
        <p:nvPicPr>
          <p:cNvPr id="4" name="foto-0" descr="/tmp/claude-0/-home-user-Brainstorm/41046cc5-cbd7-5c8f-b648-86ae48c3370d/scratchpad/deck/den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691640"/>
            <a:ext cx="173736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Denise Ferreira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TITULAR · CEO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(PUC-SP), síndica profissional desde 2000. Interlocutora oficial, assembleias e governança de voto.</a:t>
            </a:r>
            <a:endParaRPr lang="en-US" sz="1350" dirty="0"/>
          </a:p>
        </p:txBody>
      </p:sp>
      <p:pic>
        <p:nvPicPr>
          <p:cNvPr id="8" name="foto-1" descr="/tmp/claude-0/-home-user-Brainstorm/41046cc5-cbd7-5c8f-b648-86ae48c3370d/scratchpad/deck/a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691640"/>
            <a:ext cx="1737360" cy="1737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Amanda Tigre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SUBSTITUTA · SÓCIA DIRETORA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(PUC-SP). Contratos, pareceres jurídicos e interpretação da convenção.</a:t>
            </a:r>
            <a:endParaRPr lang="en-US" sz="1350" dirty="0"/>
          </a:p>
        </p:txBody>
      </p:sp>
      <p:pic>
        <p:nvPicPr>
          <p:cNvPr id="12" name="foto-2" descr="/tmp/claude-0/-home-user-Brainstorm/41046cc5-cbd7-5c8f-b648-86ae48c3370d/scratchpad/deck/ca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1691640"/>
            <a:ext cx="1737360" cy="1737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Caio Gavioli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SUBSTITUTO · DIRETOR DE OPERAÇÕES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Engenheiro eletricista (Mackenzie), pós em Segurança do Trabalho. Sistemas críticos, manutenção e custos de infraestrutura.</a:t>
            </a:r>
            <a:endParaRPr lang="en-US" sz="1350" dirty="0"/>
          </a:p>
        </p:txBody>
      </p:sp>
      <p:sp>
        <p:nvSpPr>
          <p:cNvPr id="16" name="retaguarda"/>
          <p:cNvSpPr/>
          <p:nvPr/>
        </p:nvSpPr>
        <p:spPr>
          <a:xfrm>
            <a:off x="9098280" y="1600200"/>
            <a:ext cx="2560320" cy="4572000"/>
          </a:xfrm>
          <a:prstGeom prst="roundRect">
            <a:avLst>
              <a:gd name="adj" fmla="val 2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3268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RETAGUARDA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9326880" y="2194560"/>
            <a:ext cx="2194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Marco Murino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Gerente Financeiro — balancetes, orçamento e rateio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Cláudia De Santi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— proteção de dados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Prepostos DF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Administradores, engenheiros e advogados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Parceiros de mercado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Jurídico, engenharia e consultoria, contratados por concorrência e com aprovação do Einstein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Cases de rateio: o subsídio cruzado que a RFP quer evitar</a:t>
            </a:r>
            <a:endParaRPr lang="en-US" sz="3000" dirty="0"/>
          </a:p>
        </p:txBody>
      </p:sp>
      <p:sp>
        <p:nvSpPr>
          <p:cNvPr id="3" name="case-0"/>
          <p:cNvSpPr/>
          <p:nvPr/>
        </p:nvSpPr>
        <p:spPr>
          <a:xfrm>
            <a:off x="54864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SPHQ I</a:t>
            </a:r>
            <a:endParaRPr lang="en-US" sz="2400" dirty="0"/>
          </a:p>
        </p:txBody>
      </p:sp>
      <p:sp>
        <p:nvSpPr>
          <p:cNvPr id="5" name="etiqueta"/>
          <p:cNvSpPr/>
          <p:nvPr/>
        </p:nvSpPr>
        <p:spPr>
          <a:xfrm>
            <a:off x="397764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ao Parque Global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64 mil m² · condomínio geral + 3 subcondomínios · DF síndica desde 2014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Convenção previa rateio único por fração ideal; subcondomínios pagavam despesas uns dos outros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Levantamento de áreas, estruturas e equipamentos; criação de um Coeficiente de Rateio de Despesas (CRD) aprovado em assembleia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Cada subcondomínio paga só o que é seu</a:t>
            </a:r>
            <a:endParaRPr lang="en-US" sz="1500" dirty="0"/>
          </a:p>
        </p:txBody>
      </p:sp>
      <p:sp>
        <p:nvSpPr>
          <p:cNvPr id="14" name="case-1"/>
          <p:cNvSpPr/>
          <p:nvPr/>
        </p:nvSpPr>
        <p:spPr>
          <a:xfrm>
            <a:off x="617220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17007 Nações</a:t>
            </a:r>
            <a:endParaRPr lang="en-US" sz="2400" dirty="0"/>
          </a:p>
        </p:txBody>
      </p:sp>
      <p:sp>
        <p:nvSpPr>
          <p:cNvPr id="16" name="etiqueta"/>
          <p:cNvSpPr/>
          <p:nvPr/>
        </p:nvSpPr>
        <p:spPr>
          <a:xfrm>
            <a:off x="960120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 Pinheiros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Torres Sigma e Alpha + garagem + mall · DF síndica desde 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Rateio fora da convenção: o subcondomínio garagem pagava muito acima das suas despesas reais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Diagnóstico de engenharia, financeiro e jurídico; revisão do rateio e reorganização da gestão com a administradora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Garagem paga o real; diferença redistribuída entre as torres; mall não onerado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Hospital dentro de condomínio multiuso: já fazemos isso hoje</a:t>
            </a:r>
            <a:endParaRPr lang="en-US" sz="3000" dirty="0"/>
          </a:p>
        </p:txBody>
      </p:sp>
      <p:sp>
        <p:nvSpPr>
          <p:cNvPr id="3" name="case-oparque"/>
          <p:cNvSpPr/>
          <p:nvPr/>
        </p:nvSpPr>
        <p:spPr>
          <a:xfrm>
            <a:off x="548640" y="1188720"/>
            <a:ext cx="67665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4173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155338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Complexo O Parque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0312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São Paulo (Brooklin) · torre de escritórios + torre do Hospital Sírio-Libanês (~10 mil m², 9 andares) + duas torres residenciais + varejo · DF síndica desde o início de 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6217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Desafio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Implantação com o complexo ainda em obras e ocupantes entrando; sincronizar escritórios, hospital e moradores sensíveis a obras, ruído e horários.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muda com o hospital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Perfil do público, fluxo de pacientes e acompanhantes, estacionamento — e elevadores, geradores e água passam a ser operação crítica.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a DF faz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Coordena a operação do complexo, compatibiliza as regras de cada segmento e estrutura a gestão dos sistemas críticos para a operação hospitalar.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TAMBÉM NA CARTEIRA</a:t>
            </a:r>
            <a:endParaRPr lang="en-US" sz="1200" dirty="0"/>
          </a:p>
        </p:txBody>
      </p:sp>
      <p:sp>
        <p:nvSpPr>
          <p:cNvPr id="10" name="apoio-0"/>
          <p:cNvSpPr/>
          <p:nvPr/>
        </p:nvSpPr>
        <p:spPr>
          <a:xfrm>
            <a:off x="7680960" y="16459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1810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Passeio Paulista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2194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Uso misto AAA — torre corporativa, lojas e lofts residenciais. DF síndica desde 2025.</a:t>
            </a:r>
            <a:endParaRPr lang="en-US" sz="1250" dirty="0"/>
          </a:p>
        </p:txBody>
      </p:sp>
      <p:sp>
        <p:nvSpPr>
          <p:cNvPr id="13" name="apoio-1"/>
          <p:cNvSpPr/>
          <p:nvPr/>
        </p:nvSpPr>
        <p:spPr>
          <a:xfrm>
            <a:off x="76809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09560" y="3410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Arquipeo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7947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57 mil m² para um único grande ocupante (~4.000 pessoas). Planos de contingência. DF síndica desde 2024.</a:t>
            </a:r>
            <a:endParaRPr lang="en-US" sz="1250" dirty="0"/>
          </a:p>
        </p:txBody>
      </p:sp>
      <p:sp>
        <p:nvSpPr>
          <p:cNvPr id="16" name="semelhanca"/>
          <p:cNvSpPr/>
          <p:nvPr/>
        </p:nvSpPr>
        <p:spPr>
          <a:xfrm>
            <a:off x="7680960" y="48920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09560" y="49834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Hospital em condomínio multiuso (Parque Global) + implantação junto com a entrada em operação (Pinheiros)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Metodologia de análise e validação de rateios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Prioridade da RFP: alocação correta de custos e nenhum subsídio cruzado entre setores</a:t>
            </a:r>
            <a:endParaRPr lang="en-US" sz="1500" dirty="0"/>
          </a:p>
        </p:txBody>
      </p:sp>
      <p:sp>
        <p:nvSpPr>
          <p:cNvPr id="4" name="fase-0"/>
          <p:cNvSpPr/>
          <p:nvPr/>
        </p:nvSpPr>
        <p:spPr>
          <a:xfrm>
            <a:off x="54864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9952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  Diagnóstico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até D+60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Convenção, especificação, frações, contratos, orçamento e 12 balancetes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Entrevistas e visita técnica: áreas, uso e medidores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Matriz de critério por conta (fração, área, consumo, uso)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Relatório: situação atual × situação correta</a:t>
            </a:r>
            <a:endParaRPr lang="en-US" sz="1300" dirty="0"/>
          </a:p>
        </p:txBody>
      </p:sp>
      <p:sp>
        <p:nvSpPr>
          <p:cNvPr id="10" name="fase-1"/>
          <p:cNvSpPr/>
          <p:nvPr/>
        </p:nvSpPr>
        <p:spPr>
          <a:xfrm>
            <a:off x="429768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701" y="1995221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  Rotina mensal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21208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todo mês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do balancete contra orçamento e contratos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Conferência das pastas de prestação de contas por amostragem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Gatilho: conta com desvio de ±5% → parecer com recomendação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no relatório mensal e no dashboard</a:t>
            </a:r>
            <a:endParaRPr lang="en-US" sz="1300" dirty="0"/>
          </a:p>
        </p:txBody>
      </p:sp>
      <p:sp>
        <p:nvSpPr>
          <p:cNvPr id="16" name="fase-2"/>
          <p:cNvSpPr/>
          <p:nvPr/>
        </p:nvSpPr>
        <p:spPr>
          <a:xfrm>
            <a:off x="804672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icone-fundo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741" y="1995221"/>
            <a:ext cx="261518" cy="26151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  Orçamento e eventos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96112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anual / sob demanda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da matriz na Previsão Orçamentária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Simulação do rateio por setor antes da votação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em novo contrato, obra ou mudança de ocupação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Proposta formal de correção em assembleia; validação das contas antes da AGO</a:t>
            </a:r>
            <a:endParaRPr lang="en-US" sz="1300" dirty="0"/>
          </a:p>
        </p:txBody>
      </p:sp>
      <p:sp>
        <p:nvSpPr>
          <p:cNvPr id="22" name="exemplo"/>
          <p:cNvSpPr/>
          <p:nvPr/>
        </p:nvSpPr>
        <p:spPr>
          <a:xfrm>
            <a:off x="548640" y="530352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Exemplo do que procuramos: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sistemas operados e pagos por um condômino — geradores, subestação, elevadores, estacionamento — que também atendem outros setores. Sem critério de reembolso, quem opera subsidia os demais.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Presença e dedicação por unidade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Visitas presenciais de 6 horas, sempre com a titular; visitas técnicas do Diretor de Operações em paralelo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resenca-0"/>
          <p:cNvSpPr/>
          <p:nvPr/>
        </p:nvSpPr>
        <p:spPr>
          <a:xfrm>
            <a:off x="7452360" y="155448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Parque Global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46 h/mês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574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(4 visitas) + visita técnica mensal + todas as assembleias</a:t>
            </a:r>
            <a:endParaRPr lang="en-US" sz="1250" dirty="0"/>
          </a:p>
        </p:txBody>
      </p:sp>
      <p:sp>
        <p:nvSpPr>
          <p:cNvPr id="9" name="presenca-1"/>
          <p:cNvSpPr/>
          <p:nvPr/>
        </p:nvSpPr>
        <p:spPr>
          <a:xfrm>
            <a:off x="7452360" y="29718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Pinheiros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48 → 28 h/mês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3474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até jun/2027 (implantação), depois quinzenal; 2 visitas técnicas/mês na implantação</a:t>
            </a:r>
            <a:endParaRPr lang="en-US" sz="1250" dirty="0"/>
          </a:p>
        </p:txBody>
      </p:sp>
      <p:sp>
        <p:nvSpPr>
          <p:cNvPr id="13" name="presenca-2"/>
          <p:cNvSpPr/>
          <p:nvPr/>
        </p:nvSpPr>
        <p:spPr>
          <a:xfrm>
            <a:off x="7452360" y="438912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Artur de Azevedo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~14 h/mês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48920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Mensal + visita técnica trimestral + todas as assembleias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5852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Incluídos em todas: assembleias ordinárias e extraordinárias, reunião mensal com o Einstein e plantão 24x7.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SLAs alinhados à referência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Compromisso da DF igual ou melhor que a referência enviada pelo Einstein em 30/09</a:t>
            </a:r>
            <a:endParaRPr lang="en-US" sz="1500" dirty="0"/>
          </a:p>
        </p:txBody>
      </p:sp>
      <p:graphicFrame>
        <p:nvGraphicFramePr>
          <p:cNvPr id="12" name="tabela-s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377440"/>
                <a:gridCol w="2240280"/>
                <a:gridCol w="2514600"/>
                <a:gridCol w="594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 ou plano de ação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30 min, por telefone, 24x7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ação em até 4 h; presença em até 6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horas úteis, por telefone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acordado conforme escopo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útil, com prazo proposto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10 dias úteis, prévia em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sla-extra-0"/>
          <p:cNvSpPr/>
          <p:nvPr/>
        </p:nvSpPr>
        <p:spPr>
          <a:xfrm>
            <a:off x="54864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6" name="icone-fundo"/>
          <p:cNvSpPr/>
          <p:nvPr/>
        </p:nvSpPr>
        <p:spPr>
          <a:xfrm>
            <a:off x="77724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24134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Parecer para assembleia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até 3 dias úteis após o edital e no mínimo 5 dias úteis antes da assembleia — tempo para as alçadas internas do Einstein</a:t>
            </a:r>
            <a:endParaRPr lang="en-US" sz="1250" dirty="0"/>
          </a:p>
        </p:txBody>
      </p:sp>
      <p:sp>
        <p:nvSpPr>
          <p:cNvPr id="10" name="sla-extra-1"/>
          <p:cNvSpPr/>
          <p:nvPr/>
        </p:nvSpPr>
        <p:spPr>
          <a:xfrm>
            <a:off x="617220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640080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52413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8660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Plantão 24x7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08660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Denise → Amanda → Caio → prepostos da DF; horário comercial de segunda a sexta, das 8h às 18h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Governança: nenhum voto sem autorização escrita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Inclusive em matérias de rotina — a DF analisa e recomenda; o Einstein decide</a:t>
            </a:r>
            <a:endParaRPr lang="en-US" sz="1500" dirty="0"/>
          </a:p>
        </p:txBody>
      </p:sp>
      <p:sp>
        <p:nvSpPr>
          <p:cNvPr id="4" name="etapa-1"/>
          <p:cNvSpPr/>
          <p:nvPr/>
        </p:nvSpPr>
        <p:spPr>
          <a:xfrm>
            <a:off x="5486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Classificação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Pauta classificada em rotina ou estratégica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1 dia útil após o edital</a:t>
            </a:r>
            <a:endParaRPr lang="en-US" sz="1100" dirty="0"/>
          </a:p>
        </p:txBody>
      </p:sp>
      <p:sp>
        <p:nvSpPr>
          <p:cNvPr id="9" name="etapa-2"/>
          <p:cNvSpPr/>
          <p:nvPr/>
        </p:nvSpPr>
        <p:spPr>
          <a:xfrm>
            <a:off x="242316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0604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Análise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Nota (rotina) ou parecer completo (estratégica) com recomendação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3 dias úteis após o edital</a:t>
            </a:r>
            <a:endParaRPr lang="en-US" sz="1100" dirty="0"/>
          </a:p>
        </p:txBody>
      </p:sp>
      <p:sp>
        <p:nvSpPr>
          <p:cNvPr id="14" name="etapa-3"/>
          <p:cNvSpPr/>
          <p:nvPr/>
        </p:nvSpPr>
        <p:spPr>
          <a:xfrm>
            <a:off x="429768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056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Alinhamento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Reunião ou call com os representantes do Einstein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antes da autorização</a:t>
            </a:r>
            <a:endParaRPr lang="en-US" sz="1100" dirty="0"/>
          </a:p>
        </p:txBody>
      </p:sp>
      <p:sp>
        <p:nvSpPr>
          <p:cNvPr id="19" name="etapa-4"/>
          <p:cNvSpPr/>
          <p:nvPr/>
        </p:nvSpPr>
        <p:spPr>
          <a:xfrm>
            <a:off x="617220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Autorização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Orientação de voto por escrito, conforme alçadas; procuração quando necessária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BD5E4"/>
                </a:solidFill>
              </a:rPr>
              <a:t>antes da assembleia</a:t>
            </a:r>
            <a:endParaRPr lang="en-US" sz="1100" dirty="0"/>
          </a:p>
        </p:txBody>
      </p:sp>
      <p:sp>
        <p:nvSpPr>
          <p:cNvPr id="24" name="etapa-5"/>
          <p:cNvSpPr/>
          <p:nvPr/>
        </p:nvSpPr>
        <p:spPr>
          <a:xfrm>
            <a:off x="804672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5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Assembleia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A DF vota exatamente conforme autorizado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na assembleia</a:t>
            </a:r>
            <a:endParaRPr lang="en-US" sz="1100" dirty="0"/>
          </a:p>
        </p:txBody>
      </p:sp>
      <p:sp>
        <p:nvSpPr>
          <p:cNvPr id="29" name="etapa-6"/>
          <p:cNvSpPr/>
          <p:nvPr/>
        </p:nvSpPr>
        <p:spPr>
          <a:xfrm>
            <a:off x="99212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041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6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101041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Registro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041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Deliberações e recomendações registradas e enviadas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041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até 5 dias úteis após</a:t>
            </a:r>
            <a:endParaRPr lang="en-US" sz="1100" dirty="0"/>
          </a:p>
        </p:txBody>
      </p:sp>
      <p:sp>
        <p:nvSpPr>
          <p:cNvPr id="34" name="imprevistos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icone-fundo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3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389474"/>
            <a:ext cx="285293" cy="285293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508760" y="49834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Imprevistos em assembleia: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tema fora da pauta ou proposta diferente da analisada — a DF não vota em nome do Einstein. Abstém-se, pede ressalva em ata ou adiamento, e comunica o Einstein no mesmo dia. Temas críticos seguem o escalonamento por telefone.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que chega ao Einstein todo mês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EXEMPLO ILUSTRATIVO — DADOS FICTÍCIOS</a:t>
            </a:r>
            <a:endParaRPr lang="en-US" sz="1100" dirty="0"/>
          </a:p>
        </p:txBody>
      </p:sp>
      <p:sp>
        <p:nvSpPr>
          <p:cNvPr id="4" name="mock-dashboard"/>
          <p:cNvSpPr/>
          <p:nvPr/>
        </p:nvSpPr>
        <p:spPr>
          <a:xfrm>
            <a:off x="548640" y="1417320"/>
            <a:ext cx="6949440" cy="4754880"/>
          </a:xfrm>
          <a:prstGeom prst="roundRect">
            <a:avLst>
              <a:gd name="adj" fmla="val 153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kpi-0"/>
          <p:cNvSpPr/>
          <p:nvPr/>
        </p:nvSpPr>
        <p:spPr>
          <a:xfrm>
            <a:off x="731520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+2,1%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Orçado × realizado</a:t>
            </a:r>
            <a:endParaRPr lang="en-US" sz="1050" dirty="0"/>
          </a:p>
        </p:txBody>
      </p:sp>
      <p:sp>
        <p:nvSpPr>
          <p:cNvPr id="8" name="kpi-1"/>
          <p:cNvSpPr/>
          <p:nvPr/>
        </p:nvSpPr>
        <p:spPr>
          <a:xfrm>
            <a:off x="2404872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34A"/>
                </a:solidFill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Contas acima de ±5%</a:t>
            </a:r>
            <a:endParaRPr lang="en-US" sz="1050" dirty="0"/>
          </a:p>
        </p:txBody>
      </p:sp>
      <p:sp>
        <p:nvSpPr>
          <p:cNvPr id="11" name="kpi-2"/>
          <p:cNvSpPr/>
          <p:nvPr/>
        </p:nvSpPr>
        <p:spPr>
          <a:xfrm>
            <a:off x="4078224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Pareceres no mês</a:t>
            </a:r>
            <a:endParaRPr lang="en-US" sz="1050" dirty="0"/>
          </a:p>
        </p:txBody>
      </p:sp>
      <p:sp>
        <p:nvSpPr>
          <p:cNvPr id="14" name="kpi-3"/>
          <p:cNvSpPr/>
          <p:nvPr/>
        </p:nvSpPr>
        <p:spPr>
          <a:xfrm>
            <a:off x="5751576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1304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C"/>
                </a:solidFill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861304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Votos autorizados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731520" y="2697480"/>
          <a:ext cx="65836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77724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OS 6 ENTREGÁVEIS DA RFP — ACEITOS INTEGRALMENTE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14173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Relatório executivo mensal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17373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análise financeira, rateio e riscos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0652760" y="1417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D+30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22128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Dashboard orçamentário e de rateio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253288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em formato de relatório mensal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652760" y="22128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D+90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300837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Pareceres técnicos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32841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contratos, extraordinárias, reajustes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0652760" y="300837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sob demanda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380390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Matriz de riscos e mitigação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0" y="412394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atualização trimestral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652760" y="380390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59943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Registro de assembleias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919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deliberações e recomendações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652760" y="45994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 dias úteis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5394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Plano de ação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7772400" y="5715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priorizado, acompanhado no relatório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10652760" y="53949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Plano de mobilização: 90 dias até a operação plena</a:t>
            </a:r>
            <a:endParaRPr lang="en-US" sz="3000" dirty="0"/>
          </a:p>
        </p:txBody>
      </p:sp>
      <p:sp>
        <p:nvSpPr>
          <p:cNvPr id="3" name="linha-tempo"/>
          <p:cNvSpPr/>
          <p:nvPr/>
        </p:nvSpPr>
        <p:spPr>
          <a:xfrm>
            <a:off x="822960" y="1874520"/>
            <a:ext cx="10607040" cy="0"/>
          </a:xfrm>
          <a:prstGeom prst="line">
            <a:avLst/>
          </a:prstGeom>
          <a:noFill/>
          <a:ln w="25400">
            <a:solidFill>
              <a:srgbClr val="CBD5E4"/>
            </a:solidFill>
            <a:prstDash val="solid"/>
          </a:ln>
        </p:spPr>
      </p:sp>
      <p:sp>
        <p:nvSpPr>
          <p:cNvPr id="4" name="marco-0"/>
          <p:cNvSpPr/>
          <p:nvPr/>
        </p:nvSpPr>
        <p:spPr>
          <a:xfrm>
            <a:off x="73152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 1</a:t>
            </a:r>
            <a:endParaRPr lang="en-US" sz="1300" dirty="0"/>
          </a:p>
        </p:txBody>
      </p:sp>
      <p:sp>
        <p:nvSpPr>
          <p:cNvPr id="6" name="fase-mob-0"/>
          <p:cNvSpPr/>
          <p:nvPr/>
        </p:nvSpPr>
        <p:spPr>
          <a:xfrm>
            <a:off x="54864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Kick-off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Interlocutores, canais, alçadas e temas que exigem autorização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Ata + matriz de contatos e escalonamento</a:t>
            </a:r>
            <a:endParaRPr lang="en-US" sz="1200" dirty="0"/>
          </a:p>
        </p:txBody>
      </p:sp>
      <p:sp>
        <p:nvSpPr>
          <p:cNvPr id="10" name="marco-1"/>
          <p:cNvSpPr/>
          <p:nvPr/>
        </p:nvSpPr>
        <p:spPr>
          <a:xfrm>
            <a:off x="297180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1–2</a:t>
            </a:r>
            <a:endParaRPr lang="en-US" sz="1300" dirty="0"/>
          </a:p>
        </p:txBody>
      </p:sp>
      <p:sp>
        <p:nvSpPr>
          <p:cNvPr id="12" name="fase-mob-1"/>
          <p:cNvSpPr/>
          <p:nvPr/>
        </p:nvSpPr>
        <p:spPr>
          <a:xfrm>
            <a:off x="278892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Apresentação e acessos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Apresentação à administradora, ao síndico geral e aos condôminos; pedido de documentos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Lista de documentos solicitados × recebidos</a:t>
            </a:r>
            <a:endParaRPr lang="en-US" sz="1200" dirty="0"/>
          </a:p>
        </p:txBody>
      </p:sp>
      <p:sp>
        <p:nvSpPr>
          <p:cNvPr id="16" name="marco-2"/>
          <p:cNvSpPr/>
          <p:nvPr/>
        </p:nvSpPr>
        <p:spPr>
          <a:xfrm>
            <a:off x="521208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2–4</a:t>
            </a:r>
            <a:endParaRPr lang="en-US" sz="1300" dirty="0"/>
          </a:p>
        </p:txBody>
      </p:sp>
      <p:sp>
        <p:nvSpPr>
          <p:cNvPr id="18" name="fase-mob-2"/>
          <p:cNvSpPr/>
          <p:nvPr/>
        </p:nvSpPr>
        <p:spPr>
          <a:xfrm>
            <a:off x="502920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Imersão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Primeira visita a cada unidade (titular + Diretor de Operações), entrevistas e leitura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1º relatório executivo (D+30)</a:t>
            </a:r>
            <a:endParaRPr lang="en-US" sz="1200" dirty="0"/>
          </a:p>
        </p:txBody>
      </p:sp>
      <p:sp>
        <p:nvSpPr>
          <p:cNvPr id="22" name="marco-3"/>
          <p:cNvSpPr/>
          <p:nvPr/>
        </p:nvSpPr>
        <p:spPr>
          <a:xfrm>
            <a:off x="745236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6948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Até D+60</a:t>
            </a:r>
            <a:endParaRPr lang="en-US" sz="1300" dirty="0"/>
          </a:p>
        </p:txBody>
      </p:sp>
      <p:sp>
        <p:nvSpPr>
          <p:cNvPr id="24" name="fase-mob-3"/>
          <p:cNvSpPr/>
          <p:nvPr/>
        </p:nvSpPr>
        <p:spPr>
          <a:xfrm>
            <a:off x="726948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Diagnóstico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Matriz de critérios, diagnóstico do rateio, matriz de riscos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Relatório de diagnóstico + plano de ação</a:t>
            </a:r>
            <a:endParaRPr lang="en-US" sz="1200" dirty="0"/>
          </a:p>
        </p:txBody>
      </p:sp>
      <p:sp>
        <p:nvSpPr>
          <p:cNvPr id="28" name="marco-4"/>
          <p:cNvSpPr/>
          <p:nvPr/>
        </p:nvSpPr>
        <p:spPr>
          <a:xfrm>
            <a:off x="9692640" y="1691640"/>
            <a:ext cx="365760" cy="365760"/>
          </a:xfrm>
          <a:prstGeom prst="ellipse">
            <a:avLst/>
          </a:prstGeom>
          <a:solidFill>
            <a:srgbClr val="B89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D+90</a:t>
            </a:r>
            <a:endParaRPr lang="en-US" sz="1300" dirty="0"/>
          </a:p>
        </p:txBody>
      </p:sp>
      <p:sp>
        <p:nvSpPr>
          <p:cNvPr id="30" name="fase-mob-4"/>
          <p:cNvSpPr/>
          <p:nvPr/>
        </p:nvSpPr>
        <p:spPr>
          <a:xfrm>
            <a:off x="950976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9264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plena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Rotina mensal completa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Dashboard em relatório mensal</a:t>
            </a:r>
            <a:endParaRPr lang="en-US" sz="1200" dirty="0"/>
          </a:p>
        </p:txBody>
      </p:sp>
      <p:sp>
        <p:nvSpPr>
          <p:cNvPr id="34" name="orcamento-2027"/>
          <p:cNvSpPr/>
          <p:nvPr/>
        </p:nvSpPr>
        <p:spPr>
          <a:xfrm>
            <a:off x="548640" y="548640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513832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Previsão Orçamentária 2027: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ainda não tiver sido aprovada em assembleia no início do contrato, a DF a revisa com prioridade — primeiro resultado concreto para o Einstein.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Continuidade, segurança da informação e independência</a:t>
            </a:r>
            <a:endParaRPr lang="en-US" sz="3000" dirty="0"/>
          </a:p>
        </p:txBody>
      </p:sp>
      <p:sp>
        <p:nvSpPr>
          <p:cNvPr id="3" name="continuidade-0"/>
          <p:cNvSpPr/>
          <p:nvPr/>
        </p:nvSpPr>
        <p:spPr>
          <a:xfrm>
            <a:off x="54864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861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Titular + 2 substitutos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Substituição imediata em férias, afastamentos e emergências</a:t>
            </a:r>
            <a:endParaRPr lang="en-US" sz="1300" dirty="0"/>
          </a:p>
        </p:txBody>
      </p:sp>
      <p:sp>
        <p:nvSpPr>
          <p:cNvPr id="8" name="continuidade-1"/>
          <p:cNvSpPr/>
          <p:nvPr/>
        </p:nvSpPr>
        <p:spPr>
          <a:xfrm>
            <a:off x="429768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457200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16861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Plantão 24x7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Escalonamento telefônico para situações críticas, inclusive assembleias emergenciais</a:t>
            </a:r>
            <a:endParaRPr lang="en-US" sz="1300" dirty="0"/>
          </a:p>
        </p:txBody>
      </p:sp>
      <p:sp>
        <p:nvSpPr>
          <p:cNvPr id="13" name="continuidade-2"/>
          <p:cNvSpPr/>
          <p:nvPr/>
        </p:nvSpPr>
        <p:spPr>
          <a:xfrm>
            <a:off x="804672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3210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16861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Histórico centralizado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Documentos, pareceres e decisões em repositório corporativo (OneDrive / Microsoft 365) com acesso restrito</a:t>
            </a:r>
            <a:endParaRPr lang="en-US" sz="1300" dirty="0"/>
          </a:p>
        </p:txBody>
      </p:sp>
      <p:sp>
        <p:nvSpPr>
          <p:cNvPr id="18" name="continuidade-3"/>
          <p:cNvSpPr/>
          <p:nvPr/>
        </p:nvSpPr>
        <p:spPr>
          <a:xfrm>
            <a:off x="54864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007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LGPD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dedicada; documentos do Einstein só pelos canais autorizados; incidentes comunicados de imediato</a:t>
            </a:r>
            <a:endParaRPr lang="en-US" sz="1300" dirty="0"/>
          </a:p>
        </p:txBody>
      </p:sp>
      <p:sp>
        <p:nvSpPr>
          <p:cNvPr id="23" name="continuidade-4"/>
          <p:cNvSpPr/>
          <p:nvPr/>
        </p:nvSpPr>
        <p:spPr>
          <a:xfrm>
            <a:off x="429768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457200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674" y="42007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Seguro de RC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Apólices de Responsabilidade Civil Profissional e Geral vigentes, sem custo ao Einstein</a:t>
            </a:r>
            <a:endParaRPr lang="en-US" sz="1300" dirty="0"/>
          </a:p>
        </p:txBody>
      </p:sp>
      <p:sp>
        <p:nvSpPr>
          <p:cNvPr id="28" name="continuidade-5"/>
          <p:cNvSpPr/>
          <p:nvPr/>
        </p:nvSpPr>
        <p:spPr>
          <a:xfrm>
            <a:off x="804672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832104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714" y="42007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Independência declarada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Nenhum vínculo com condomínios, administradoras, proprietários ou gestores das unidades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Boletim Diário de Operações: a rotina de cada prédio, medida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Sistema próprio da DF: o checklist diário vira indicadores, alertas de SLA e relatório executivo</a:t>
            </a:r>
            <a:endParaRPr lang="en-US" sz="1500" dirty="0"/>
          </a:p>
        </p:txBody>
      </p:sp>
      <p:sp>
        <p:nvSpPr>
          <p:cNvPr id="4" name="etiqueta-operacao"/>
          <p:cNvSpPr/>
          <p:nvPr/>
        </p:nvSpPr>
        <p:spPr>
          <a:xfrm>
            <a:off x="10241280" y="102412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2E7D5C"/>
          </a:solidFill>
          <a:ln w="12700">
            <a:solidFill>
              <a:srgbClr val="2E7D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102412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EM OPERAÇÃO</a:t>
            </a:r>
            <a:endParaRPr lang="en-US" sz="1050" dirty="0"/>
          </a:p>
        </p:txBody>
      </p:sp>
      <p:sp>
        <p:nvSpPr>
          <p:cNvPr id="6" name="celular"/>
          <p:cNvSpPr/>
          <p:nvPr/>
        </p:nvSpPr>
        <p:spPr>
          <a:xfrm>
            <a:off x="822960" y="1600200"/>
            <a:ext cx="2514600" cy="4572000"/>
          </a:xfrm>
          <a:prstGeom prst="roundRect">
            <a:avLst>
              <a:gd name="adj" fmla="val 10909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7" name="tela"/>
          <p:cNvSpPr/>
          <p:nvPr/>
        </p:nvSpPr>
        <p:spPr>
          <a:xfrm>
            <a:off x="960120" y="1828800"/>
            <a:ext cx="2240280" cy="41148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938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Boletim de hoje</a:t>
            </a:r>
            <a:endParaRPr lang="en-US" sz="1200" dirty="0"/>
          </a:p>
        </p:txBody>
      </p:sp>
      <p:sp>
        <p:nvSpPr>
          <p:cNvPr id="9" name="item-check"/>
          <p:cNvSpPr/>
          <p:nvPr/>
        </p:nvSpPr>
        <p:spPr>
          <a:xfrm>
            <a:off x="1097280" y="23317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0" name="statu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414016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44752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Geradores</a:t>
            </a:r>
            <a:endParaRPr lang="en-US" sz="1100" dirty="0"/>
          </a:p>
        </p:txBody>
      </p:sp>
      <p:sp>
        <p:nvSpPr>
          <p:cNvPr id="12" name="item-check"/>
          <p:cNvSpPr/>
          <p:nvPr/>
        </p:nvSpPr>
        <p:spPr>
          <a:xfrm>
            <a:off x="1097280" y="27889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3" name="statu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71216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44752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Elevadores</a:t>
            </a:r>
            <a:endParaRPr lang="en-US" sz="1100" dirty="0"/>
          </a:p>
        </p:txBody>
      </p:sp>
      <p:sp>
        <p:nvSpPr>
          <p:cNvPr id="15" name="item-check"/>
          <p:cNvSpPr/>
          <p:nvPr/>
        </p:nvSpPr>
        <p:spPr>
          <a:xfrm>
            <a:off x="1097280" y="32461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6" name="statu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328416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44752" y="3246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Reservatórios</a:t>
            </a:r>
            <a:endParaRPr lang="en-US" sz="1100" dirty="0"/>
          </a:p>
        </p:txBody>
      </p:sp>
      <p:sp>
        <p:nvSpPr>
          <p:cNvPr id="18" name="item-check"/>
          <p:cNvSpPr/>
          <p:nvPr/>
        </p:nvSpPr>
        <p:spPr>
          <a:xfrm>
            <a:off x="1097280" y="37033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9" name="stat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3785616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44752" y="3703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SDAI / incêndio</a:t>
            </a:r>
            <a:endParaRPr lang="en-US" sz="1100" dirty="0"/>
          </a:p>
        </p:txBody>
      </p:sp>
      <p:sp>
        <p:nvSpPr>
          <p:cNvPr id="21" name="item-check"/>
          <p:cNvSpPr/>
          <p:nvPr/>
        </p:nvSpPr>
        <p:spPr>
          <a:xfrm>
            <a:off x="1097280" y="41605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2" name="statu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4242816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44752" y="4160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Climatização</a:t>
            </a:r>
            <a:endParaRPr lang="en-US" sz="1100" dirty="0"/>
          </a:p>
        </p:txBody>
      </p:sp>
      <p:sp>
        <p:nvSpPr>
          <p:cNvPr id="24" name="item-check"/>
          <p:cNvSpPr/>
          <p:nvPr/>
        </p:nvSpPr>
        <p:spPr>
          <a:xfrm>
            <a:off x="1097280" y="46177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5" name="statu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432" y="4700016"/>
            <a:ext cx="201168" cy="20116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444752" y="4617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Limpeza e segurança</a:t>
            </a:r>
            <a:endParaRPr lang="en-US" sz="1100" dirty="0"/>
          </a:p>
        </p:txBody>
      </p:sp>
      <p:sp>
        <p:nvSpPr>
          <p:cNvPr id="27" name="botao"/>
          <p:cNvSpPr/>
          <p:nvPr/>
        </p:nvSpPr>
        <p:spPr>
          <a:xfrm>
            <a:off x="1097280" y="5166360"/>
            <a:ext cx="1965960" cy="411480"/>
          </a:xfrm>
          <a:prstGeom prst="roundRect">
            <a:avLst>
              <a:gd name="adj" fmla="val 17778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97280" y="51663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Enviar boletim</a:t>
            </a:r>
            <a:endParaRPr lang="en-US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822960" y="619963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Ilustração</a:t>
            </a:r>
            <a:endParaRPr lang="en-US" sz="900" dirty="0"/>
          </a:p>
        </p:txBody>
      </p:sp>
      <p:sp>
        <p:nvSpPr>
          <p:cNvPr id="30" name="boletim-0"/>
          <p:cNvSpPr/>
          <p:nvPr/>
        </p:nvSpPr>
        <p:spPr>
          <a:xfrm>
            <a:off x="3794760" y="160020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icone-fundo"/>
          <p:cNvSpPr/>
          <p:nvPr/>
        </p:nvSpPr>
        <p:spPr>
          <a:xfrm>
            <a:off x="402336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4061" y="1949501"/>
            <a:ext cx="261518" cy="26151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466344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Checklist no celular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4663440" y="222199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gerente predial registra sistemas, ocorrências e pendências em etapas — substitui WhatsApp e planilhas</a:t>
            </a:r>
            <a:endParaRPr lang="en-US" sz="1250" dirty="0"/>
          </a:p>
        </p:txBody>
      </p:sp>
      <p:sp>
        <p:nvSpPr>
          <p:cNvPr id="35" name="boletim-1"/>
          <p:cNvSpPr/>
          <p:nvPr/>
        </p:nvSpPr>
        <p:spPr>
          <a:xfrm>
            <a:off x="7726680" y="160020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6" name="icone-fundo"/>
          <p:cNvSpPr/>
          <p:nvPr/>
        </p:nvSpPr>
        <p:spPr>
          <a:xfrm>
            <a:off x="795528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5981" y="1949501"/>
            <a:ext cx="261518" cy="26151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85953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Painel e indicadores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8595360" y="222199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Visão de vários condomínios com KPIs, gráficos e matriz de risco de SLA</a:t>
            </a:r>
            <a:endParaRPr lang="en-US" sz="1250" dirty="0"/>
          </a:p>
        </p:txBody>
      </p:sp>
      <p:sp>
        <p:nvSpPr>
          <p:cNvPr id="40" name="boletim-2"/>
          <p:cNvSpPr/>
          <p:nvPr/>
        </p:nvSpPr>
        <p:spPr>
          <a:xfrm>
            <a:off x="3794760" y="347472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1" name="icone-fundo"/>
          <p:cNvSpPr/>
          <p:nvPr/>
        </p:nvSpPr>
        <p:spPr>
          <a:xfrm>
            <a:off x="4023360" y="3703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i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4061" y="3824021"/>
            <a:ext cx="261518" cy="26151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466344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Ocorrências e planos</a:t>
            </a:r>
            <a:endParaRPr lang="en-US" sz="1500" dirty="0"/>
          </a:p>
        </p:txBody>
      </p:sp>
      <p:sp>
        <p:nvSpPr>
          <p:cNvPr id="44" name="Text 33"/>
          <p:cNvSpPr txBox="1"/>
          <p:nvPr/>
        </p:nvSpPr>
        <p:spPr>
          <a:xfrm>
            <a:off x="4663440" y="409651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Cada ocorrência registrada vira acompanhamento até o encerramento</a:t>
            </a:r>
            <a:endParaRPr lang="en-US" sz="1250" dirty="0"/>
          </a:p>
        </p:txBody>
      </p:sp>
      <p:sp>
        <p:nvSpPr>
          <p:cNvPr id="45" name="boletim-3"/>
          <p:cNvSpPr/>
          <p:nvPr/>
        </p:nvSpPr>
        <p:spPr>
          <a:xfrm>
            <a:off x="7726680" y="347472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6" name="icone-fundo"/>
          <p:cNvSpPr/>
          <p:nvPr/>
        </p:nvSpPr>
        <p:spPr>
          <a:xfrm>
            <a:off x="7955280" y="3703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7" name="icone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5981" y="3824021"/>
            <a:ext cx="261518" cy="261518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859536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Relatório executivo</a:t>
            </a:r>
            <a:endParaRPr lang="en-US" sz="1500" dirty="0"/>
          </a:p>
        </p:txBody>
      </p:sp>
      <p:sp>
        <p:nvSpPr>
          <p:cNvPr id="49" name="Text 37"/>
          <p:cNvSpPr txBox="1"/>
          <p:nvPr/>
        </p:nvSpPr>
        <p:spPr>
          <a:xfrm>
            <a:off x="8595360" y="409651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Resumo gerencial gerado a partir dos dados do período; resumo pronto para os grupos de WhatsApp</a:t>
            </a:r>
            <a:endParaRPr lang="en-US" sz="1250" dirty="0"/>
          </a:p>
        </p:txBody>
      </p:sp>
      <p:sp>
        <p:nvSpPr>
          <p:cNvPr id="50" name="beneficio-boletim"/>
          <p:cNvSpPr/>
          <p:nvPr/>
        </p:nvSpPr>
        <p:spPr>
          <a:xfrm>
            <a:off x="3794760" y="5394960"/>
            <a:ext cx="7680960" cy="777240"/>
          </a:xfrm>
          <a:prstGeom prst="roundRect">
            <a:avLst>
              <a:gd name="adj" fmla="val 9412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51" name="Text 39"/>
          <p:cNvSpPr txBox="1"/>
          <p:nvPr/>
        </p:nvSpPr>
        <p:spPr>
          <a:xfrm>
            <a:off x="4023360" y="54406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Para o Einstein: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DF chega às assembleias e às reuniões mensais com dados da operação, não com impressões.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Rotinas automáticas: nenhum prazo esquecido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Automações próprias que rodam todos os dias e todas as semanas, sem depender da memória de ninguém</a:t>
            </a:r>
            <a:endParaRPr lang="en-US" sz="1500" dirty="0"/>
          </a:p>
        </p:txBody>
      </p:sp>
      <p:sp>
        <p:nvSpPr>
          <p:cNvPr id="4" name="rotina-0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Triagem diária de demandas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Todo dia, 7h30</a:t>
            </a:r>
            <a:endParaRPr lang="en-US" sz="1300" dirty="0"/>
          </a:p>
        </p:txBody>
      </p:sp>
      <p:sp>
        <p:nvSpPr>
          <p:cNvPr id="9" name="passo"/>
          <p:cNvSpPr/>
          <p:nvPr/>
        </p:nvSpPr>
        <p:spPr>
          <a:xfrm>
            <a:off x="868680" y="283464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Lê a caixa de e-mail e identifica pedidos e prazos do cliente</a:t>
            </a:r>
            <a:endParaRPr lang="en-US" sz="1350" dirty="0"/>
          </a:p>
        </p:txBody>
      </p:sp>
      <p:sp>
        <p:nvSpPr>
          <p:cNvPr id="12" name="passo"/>
          <p:cNvSpPr/>
          <p:nvPr/>
        </p:nvSpPr>
        <p:spPr>
          <a:xfrm>
            <a:off x="868680" y="34747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429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Atualiza o quadro de acompanhamento das demandas</a:t>
            </a:r>
            <a:endParaRPr lang="en-US" sz="1350" dirty="0"/>
          </a:p>
        </p:txBody>
      </p:sp>
      <p:sp>
        <p:nvSpPr>
          <p:cNvPr id="15" name="passo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4069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Envia o resumo do dia com tudo o que está em aberto</a:t>
            </a:r>
            <a:endParaRPr lang="en-US" sz="1350" dirty="0"/>
          </a:p>
        </p:txBody>
      </p:sp>
      <p:pic>
        <p:nvPicPr>
          <p:cNvPr id="18" name="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773168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23444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Em operação desde agosto de 2026</a:t>
            </a:r>
            <a:endParaRPr lang="en-US" sz="1300" dirty="0"/>
          </a:p>
        </p:txBody>
      </p:sp>
      <p:sp>
        <p:nvSpPr>
          <p:cNvPr id="20" name="rotina-1"/>
          <p:cNvSpPr/>
          <p:nvPr/>
        </p:nvSpPr>
        <p:spPr>
          <a:xfrm>
            <a:off x="617220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icone-fundo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139" y="2028139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26948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Cobrança de documentação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726948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Toda segunda-feira</a:t>
            </a:r>
            <a:endParaRPr lang="en-US" sz="1300" dirty="0"/>
          </a:p>
        </p:txBody>
      </p:sp>
      <p:sp>
        <p:nvSpPr>
          <p:cNvPr id="25" name="passo"/>
          <p:cNvSpPr/>
          <p:nvPr/>
        </p:nvSpPr>
        <p:spPr>
          <a:xfrm>
            <a:off x="6492240" y="283464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922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704088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Lê os relatórios de documentos a vencer e vencidos</a:t>
            </a:r>
            <a:endParaRPr lang="en-US" sz="1350" dirty="0"/>
          </a:p>
        </p:txBody>
      </p:sp>
      <p:sp>
        <p:nvSpPr>
          <p:cNvPr id="28" name="passo"/>
          <p:cNvSpPr/>
          <p:nvPr/>
        </p:nvSpPr>
        <p:spPr>
          <a:xfrm>
            <a:off x="6492240" y="34747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4922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29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Separa por condomínio e envia uma cobrança para cada um</a:t>
            </a:r>
            <a:endParaRPr lang="en-US" sz="1350" dirty="0"/>
          </a:p>
        </p:txBody>
      </p:sp>
      <p:sp>
        <p:nvSpPr>
          <p:cNvPr id="31" name="passo"/>
          <p:cNvSpPr/>
          <p:nvPr/>
        </p:nvSpPr>
        <p:spPr>
          <a:xfrm>
            <a:off x="6492240" y="41148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922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7040880" y="4069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Só envia a destinatários confirmados — na dúvida, não envia</a:t>
            </a:r>
            <a:endParaRPr lang="en-US" sz="1350" dirty="0"/>
          </a:p>
        </p:txBody>
      </p:sp>
      <p:pic>
        <p:nvPicPr>
          <p:cNvPr id="34" name="o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773168"/>
            <a:ext cx="256032" cy="256032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5800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9 semanas consecutivas de execução</a:t>
            </a:r>
            <a:endParaRPr lang="en-US" sz="1300" dirty="0"/>
          </a:p>
        </p:txBody>
      </p:sp>
      <p:sp>
        <p:nvSpPr>
          <p:cNvPr id="36" name="beneficio-rotinas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Para o Einstein: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cada demanda do Einstein entra na triagem no mesmo dia — é o que sustenta os SLAs que propusemos.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Relatórios técnicos que sustentam decisões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O padrão de análise que o Einstein recebe numa ocorrência crítica ou numa revisão de contrato</a:t>
            </a:r>
            <a:endParaRPr lang="en-US" sz="1500" dirty="0"/>
          </a:p>
        </p:txBody>
      </p:sp>
      <p:sp>
        <p:nvSpPr>
          <p:cNvPr id="4" name="relatorio-0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56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Relatório de apuração de incidente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Edifício AAA de uso misto — vazamento no sistema de geradores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Análise técnica e jurídica dos relatórios de cinco prestadores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Cronologia completa do evento, com vistorias da DF no local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Análise da cobertura das apólices de seguro de cada prestador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Responsabilidades e plano de ação com responsáveis e prazos</a:t>
            </a:r>
            <a:endParaRPr lang="en-US" sz="1400" dirty="0"/>
          </a:p>
        </p:txBody>
      </p:sp>
      <p:sp>
        <p:nvSpPr>
          <p:cNvPr id="10" name="relatorio-1"/>
          <p:cNvSpPr/>
          <p:nvPr/>
        </p:nvSpPr>
        <p:spPr>
          <a:xfrm>
            <a:off x="617220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39" y="202813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69480" y="1856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Auditoria e conciliação financeira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Complexo multiuso com subsetores — contrato de administração predial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926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Apuração de questionamentos de condôminos sobre pagamentos à administradora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39 notas fiscais de 20 meses conciliadas com os comprovantes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Confronto entre proposta, ata de assembleia, contrato e aditivos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Rateio entre subsetores e erro material de contrato identificados, com conclusão documentada</a:t>
            </a:r>
            <a:endParaRPr lang="en-US" sz="1400" dirty="0"/>
          </a:p>
        </p:txBody>
      </p:sp>
      <p:sp>
        <p:nvSpPr>
          <p:cNvPr id="16" name="beneficio-relatorios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Sigilo: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apresentamos o método, não o cliente — o mesmo cuidado que teremos com as informações do Einstein.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Escopo claro, sem surpresas na fatura</a:t>
            </a:r>
            <a:endParaRPr lang="en-US" sz="3000" dirty="0"/>
          </a:p>
        </p:txBody>
      </p:sp>
      <p:sp>
        <p:nvSpPr>
          <p:cNvPr id="3" name="escopo-0"/>
          <p:cNvSpPr/>
          <p:nvPr/>
        </p:nvSpPr>
        <p:spPr>
          <a:xfrm>
            <a:off x="54864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Incluído na mensalidade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Titular, substitutos e retaguarda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Visitas presenciais e técnicas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Deslocamento, estacionamento e alimentação na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Assembleias ordinárias e extraordinárias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Plantão 24x7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Relatórios, dashboard, matriz de riscos e plano de ação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Pareceres da equipe DF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Seguro de RC e tributos</a:t>
            </a:r>
            <a:endParaRPr lang="en-US" sz="1350" dirty="0"/>
          </a:p>
        </p:txBody>
      </p:sp>
      <p:sp>
        <p:nvSpPr>
          <p:cNvPr id="6" name="escopo-1"/>
          <p:cNvSpPr/>
          <p:nvPr/>
        </p:nvSpPr>
        <p:spPr>
          <a:xfrm>
            <a:off x="429768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Só com autorização prévia do Einstein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Laudos, perícias e ensaios de terceiros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Escritórios externos e processos judiciais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Auditoria contábil independente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Custas cartoriais e registros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Viagens fora da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Orçados à parte; não alteram a mensalidade</a:t>
            </a:r>
            <a:endParaRPr lang="en-US" sz="1350" dirty="0"/>
          </a:p>
        </p:txBody>
      </p:sp>
      <p:sp>
        <p:nvSpPr>
          <p:cNvPr id="9" name="escopo-2"/>
          <p:cNvSpPr/>
          <p:nvPr/>
        </p:nvSpPr>
        <p:spPr>
          <a:xfrm>
            <a:off x="804672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Papel da administradora — não da DF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Equipe residente e operação diária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Contas a pagar e a receber, boletos e cobrança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Elaboração de balancetes e prestação de contas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Compras, estoque e arquivo físico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 DF analisa, valida e fiscaliza esses processos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Por que a DF</a:t>
            </a:r>
            <a:endParaRPr lang="en-US" sz="3000" dirty="0"/>
          </a:p>
        </p:txBody>
      </p:sp>
      <p:sp>
        <p:nvSpPr>
          <p:cNvPr id="3" name="porque-0"/>
          <p:cNvSpPr/>
          <p:nvPr/>
        </p:nvSpPr>
        <p:spPr>
          <a:xfrm>
            <a:off x="548640" y="12801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476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Independência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3317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Não somos administradora: fiscalizamos quem executa, em nome do Einstein</a:t>
            </a:r>
            <a:endParaRPr lang="en-US" sz="1600" dirty="0"/>
          </a:p>
        </p:txBody>
      </p:sp>
      <p:sp>
        <p:nvSpPr>
          <p:cNvPr id="8" name="porque-1"/>
          <p:cNvSpPr/>
          <p:nvPr/>
        </p:nvSpPr>
        <p:spPr>
          <a:xfrm>
            <a:off x="6172200" y="12801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6492240" y="17830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4767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Rateio é o nosso forte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3317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Casos reais de subsídio cruzado corrigidos — inclusive por deliberação de assembleia</a:t>
            </a:r>
            <a:endParaRPr lang="en-US" sz="1600" dirty="0"/>
          </a:p>
        </p:txBody>
      </p:sp>
      <p:sp>
        <p:nvSpPr>
          <p:cNvPr id="13" name="porque-2"/>
          <p:cNvSpPr/>
          <p:nvPr/>
        </p:nvSpPr>
        <p:spPr>
          <a:xfrm>
            <a:off x="54864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68680" y="42976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46227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Hospital em condomínio multiuso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846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Fazemos isso hoje no O Parque, com implantação em andamento</a:t>
            </a:r>
            <a:endParaRPr lang="en-US" sz="1600" dirty="0"/>
          </a:p>
        </p:txBody>
      </p:sp>
      <p:sp>
        <p:nvSpPr>
          <p:cNvPr id="18" name="porque-3"/>
          <p:cNvSpPr/>
          <p:nvPr/>
        </p:nvSpPr>
        <p:spPr>
          <a:xfrm>
            <a:off x="617220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92240" y="42976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44622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Governança à prova de risco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846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Nenhum voto sem autorização escrita; SLAs iguais ou melhores que a referência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Obrigado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4"/>
                </a:solidFill>
              </a:rPr>
              <a:t>Estamos à disposição para as dúvidas do Einstein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934A"/>
                </a:solidFill>
              </a:rPr>
              <a:t>PRÓXIMOS PASSOS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Formalizamos por escrito os ajustes de SLA apresentados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Enviamos o relatório executivo da apresentação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Kick-off em até 5 dias úteis após a contratação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39319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Denise Ferreira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denise@dfsindicos.com.br · +55 11 97322-5115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Caio Gavioli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caio@dfsindicos.com.br · +55 11 98323-1173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B8934A"/>
                </a:solidFill>
              </a:rPr>
              <a:t>www.dfsindicos.com.br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critérios de criticidade do Einstein</a:t>
            </a:r>
            <a:endParaRPr lang="en-US" sz="3000" dirty="0"/>
          </a:p>
        </p:txBody>
      </p:sp>
      <p:graphicFrame>
        <p:nvGraphicFramePr>
          <p:cNvPr id="23" name="tabela-criticidad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035040"/>
                <a:gridCol w="3611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(e-mail do Einstein, 30/09)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DF atende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à continuidade da operação, segurança de pessoas, compliance, imagem ou exposição financeira relevante; deliberações que exigem posicionamento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24x7 · 30 min · plano de ação em 4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definido para análise ou manifestação: assembleias, aprovações extraordinárias, contratos, notificações, demandas regulatórias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· 2 h úteis ·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de acompanhamento financeiro, contratual, operacional e de governança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 / canal oficial · 1 dia útil ·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aprofundadas, múltiplos stakeholders, estudos financeiros, jurídicos ou de engenharia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dia útil com prazo proposto · até 10 dias úteis (prévia em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insumos que a DF precisa do Einstein no início</a:t>
            </a:r>
            <a:endParaRPr lang="en-US" sz="3000" dirty="0"/>
          </a:p>
        </p:txBody>
      </p:sp>
      <p:sp>
        <p:nvSpPr>
          <p:cNvPr id="3" name="insumo-0"/>
          <p:cNvSpPr/>
          <p:nvPr/>
        </p:nvSpPr>
        <p:spPr>
          <a:xfrm>
            <a:off x="54864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8233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Ata de eleição e procurações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a DF representar o Einstein formalmente em cada unidade</a:t>
            </a:r>
            <a:endParaRPr lang="en-US" sz="1300" dirty="0"/>
          </a:p>
        </p:txBody>
      </p:sp>
      <p:sp>
        <p:nvSpPr>
          <p:cNvPr id="8" name="insumo-1"/>
          <p:cNvSpPr/>
          <p:nvPr/>
        </p:nvSpPr>
        <p:spPr>
          <a:xfrm>
            <a:off x="617220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644652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18233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Convenção, especificação e regimento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de todos os critérios de rateio</a:t>
            </a:r>
            <a:endParaRPr lang="en-US" sz="1300" dirty="0"/>
          </a:p>
        </p:txBody>
      </p:sp>
      <p:sp>
        <p:nvSpPr>
          <p:cNvPr id="13" name="insumo-2"/>
          <p:cNvSpPr/>
          <p:nvPr/>
        </p:nvSpPr>
        <p:spPr>
          <a:xfrm>
            <a:off x="54864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2296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346923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Contratos vigentes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validar critérios de rateio e mapear fornecedores (verificação de independência)</a:t>
            </a:r>
            <a:endParaRPr lang="en-US" sz="1300" dirty="0"/>
          </a:p>
        </p:txBody>
      </p:sp>
      <p:sp>
        <p:nvSpPr>
          <p:cNvPr id="18" name="insumo-3"/>
          <p:cNvSpPr/>
          <p:nvPr/>
        </p:nvSpPr>
        <p:spPr>
          <a:xfrm>
            <a:off x="617220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4652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4" y="346923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Pastas de prestação de contas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Últimos 12 meses, para o diagnóstico</a:t>
            </a:r>
            <a:endParaRPr lang="en-US" sz="1300" dirty="0"/>
          </a:p>
        </p:txBody>
      </p:sp>
      <p:sp>
        <p:nvSpPr>
          <p:cNvPr id="23" name="insumo-4"/>
          <p:cNvSpPr/>
          <p:nvPr/>
        </p:nvSpPr>
        <p:spPr>
          <a:xfrm>
            <a:off x="54864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51151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Contatos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Administradora, síndico geral e representantes designados pelo Einstein</a:t>
            </a:r>
            <a:endParaRPr lang="en-US" sz="1300" dirty="0"/>
          </a:p>
        </p:txBody>
      </p:sp>
      <p:sp>
        <p:nvSpPr>
          <p:cNvPr id="28" name="insumo-5"/>
          <p:cNvSpPr/>
          <p:nvPr/>
        </p:nvSpPr>
        <p:spPr>
          <a:xfrm>
            <a:off x="617220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64465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94" y="51151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Alçadas internas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Quem autoriza cada tipo de voto e posicionamento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F Síndicos">
  <a:themeElements>
    <a:clrScheme name="DF Síndicos">
      <a:dk1>
        <a:srgbClr val="1F2A37"/>
      </a:dk1>
      <a:lt1>
        <a:srgbClr val="FFFFFF"/>
      </a:lt1>
      <a:dk2>
        <a:srgbClr val="2F4162"/>
      </a:dk2>
      <a:lt2>
        <a:srgbClr val="F3F4F6"/>
      </a:lt2>
      <a:accent1>
        <a:srgbClr val="2F4162"/>
      </a:accent1>
      <a:accent2>
        <a:srgbClr val="B8934A"/>
      </a:accent2>
      <a:accent3>
        <a:srgbClr val="5B6470"/>
      </a:accent3>
      <a:accent4>
        <a:srgbClr val="7E93B8"/>
      </a:accent4>
      <a:accent5>
        <a:srgbClr val="CBD5E4"/>
      </a:accent5>
      <a:accent6>
        <a:srgbClr val="2E7D5C"/>
      </a:accent6>
      <a:hlink>
        <a:srgbClr val="2F4162"/>
      </a:hlink>
      <a:folHlink>
        <a:srgbClr val="5B6470"/>
      </a:folHlink>
    </a:clrScheme>
    <a:fontScheme name="DF Síndic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DF Síndicos Profissionais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técnica — Representante Condominial Einstein</dc:title>
  <dc:subject>PptxGenJS Presentation</dc:subject>
  <dc:creator>DF Síndicos Profissionais</dc:creator>
  <cp:lastModifiedBy>DF Síndicos Profissionais</cp:lastModifiedBy>
  <cp:revision>1</cp:revision>
  <dcterms:created xsi:type="dcterms:W3CDTF">2026-10-08T05:28:20Z</dcterms:created>
  <dcterms:modified xsi:type="dcterms:W3CDTF">2026-10-08T05:28:20Z</dcterms:modified>
</cp:coreProperties>
</file>
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35790ced-f017-4c6a-a533-330e1ff4659f}">
          <p14:sldIdLst>
            <p14:sldId id="256"/>
            <p14:sldId id="257"/>
          </p14:sldIdLst>
        </p14:section>
        <p14:section name="O que entendemos" id="{a5506870-f752-314e-c560-fad4030725a5}">
          <p14:sldIdLst>
            <p14:sldId id="258"/>
            <p14:sldId id="259"/>
          </p14:sldIdLst>
        </p14:section>
        <p14:section name="Quem é a DF" id="{ff33c136-fea3-89c3-c535-5c8d7fbd856f}">
          <p14:sldIdLst>
            <p14:sldId id="260"/>
            <p14:sldId id="261"/>
            <p14:sldId id="262"/>
            <p14:sldId id="263"/>
          </p14:sldIdLst>
        </p14:section>
        <p14:section name="Como vamos atuar" id="{c4e231ec-b1bc-c551-d386-9e0ecf2a8f0f}">
          <p14:sldIdLst>
            <p14:sldId id="264"/>
            <p14:sldId id="265"/>
            <p14:sldId id="266"/>
            <p14:sldId id="267"/>
          </p14:sldIdLst>
        </p14:section>
        <p14:section name="O que o Einstein recebe" id="{33ffae1d-2f59-2cad-cb24-b58a4029fff3}">
          <p14:sldIdLst>
            <p14:sldId id="268"/>
            <p14:sldId id="269"/>
            <p14:sldId id="270"/>
          </p14:sldIdLst>
        </p14:section>
        <p14:section name="Como a DF controla" id="{66b03f3f-c7e6-ca6f-9791-186d56a24c8d}">
          <p14:sldIdLst>
            <p14:sldId id="271"/>
            <p14:sldId id="272"/>
            <p14:sldId id="273"/>
          </p14:sldIdLst>
        </p14:section>
        <p14:section name="Escopo e premissas" id="{8fb0dc75-fc00-491b-4b2b-3bc798a8b31d}">
          <p14:sldIdLst>
            <p14:sldId id="274"/>
            <p14:sldId id="275"/>
            <p14:sldId id="276"/>
          </p14:sldIdLst>
        </p14:section>
        <p14:section name="Apoio para perguntas" id="{5efe36a8-cf5e-b960-471f-328751e5d79e}">
          <p14:sldIdLst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F4162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F4162"/>
                </a:solidFill>
                <a:latin typeface="+mn-lt"/>
              </a:rPr>
              <a:t>Horas dedicadas por mês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Titular presencial</c:v>
                </c:pt>
              </c:strCache>
            </c:strRef>
          </c:tx>
          <c:spPr>
            <a:solidFill>
              <a:srgbClr val="2F41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Parque Global</c:v>
                  </c:pt>
                  <c:pt idx="1">
                    <c:v>Pinheiros (até jun/27)</c:v>
                  </c:pt>
                  <c:pt idx="2">
                    <c:v>Pinheiros (a partir de jul/27)</c:v>
                  </c:pt>
                  <c:pt idx="3">
                    <c:v>Artur de Azevedo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</c:v>
                </c:pt>
                <c:pt idx="1">
                  <c:v>24</c:v>
                </c:pt>
                <c:pt idx="2">
                  <c:v>12</c:v>
                </c:pt>
                <c:pt idx="3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Titular remoto</c:v>
                </c:pt>
              </c:strCache>
            </c:strRef>
          </c:tx>
          <c:spPr>
            <a:solidFill>
              <a:srgbClr val="7E9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Parque Global</c:v>
                  </c:pt>
                  <c:pt idx="1">
                    <c:v>Pinheiros (até jun/27)</c:v>
                  </c:pt>
                  <c:pt idx="2">
                    <c:v>Pinheiros (a partir de jul/27)</c:v>
                  </c:pt>
                  <c:pt idx="3">
                    <c:v>Artur de Azevedo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</c:v>
                </c:pt>
                <c:pt idx="1">
                  <c:v>12</c:v>
                </c:pt>
                <c:pt idx="2">
                  <c:v>10</c:v>
                </c:pt>
                <c:pt idx="3">
                  <c:v>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Visita técnica</c:v>
                </c:pt>
              </c:strCache>
            </c:strRef>
          </c:tx>
          <c:spPr>
            <a:solidFill>
              <a:srgbClr val="B89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Parque Global</c:v>
                  </c:pt>
                  <c:pt idx="1">
                    <c:v>Pinheiros (até jun/27)</c:v>
                  </c:pt>
                  <c:pt idx="2">
                    <c:v>Pinheiros (a partir de jul/27)</c:v>
                  </c:pt>
                  <c:pt idx="3">
                    <c:v>Artur de Azevedo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</c:v>
                </c:pt>
                <c:pt idx="1">
                  <c:v>12</c:v>
                </c:pt>
                <c:pt idx="2">
                  <c:v>6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A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4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5B64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F416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F4162"/>
                </a:solidFill>
                <a:latin typeface="+mn-lt"/>
              </a:rPr>
              <a:t>Despesa do setor — orçado × realizado (R$ mil)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Orçado</c:v>
                </c:pt>
              </c:strCache>
            </c:strRef>
          </c:tx>
          <c:spPr>
            <a:solidFill>
              <a:srgbClr val="CBD5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Mai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Ago</c:v>
                  </c:pt>
                  <c:pt idx="4">
                    <c:v>Set</c:v>
                  </c:pt>
                  <c:pt idx="5">
                    <c:v>Out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412</c:v>
                </c:pt>
                <c:pt idx="1">
                  <c:v>415</c:v>
                </c:pt>
                <c:pt idx="2">
                  <c:v>418</c:v>
                </c:pt>
                <c:pt idx="3">
                  <c:v>420</c:v>
                </c:pt>
                <c:pt idx="4">
                  <c:v>421</c:v>
                </c:pt>
                <c:pt idx="5">
                  <c:v>425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Realizado</c:v>
                </c:pt>
              </c:strCache>
            </c:strRef>
          </c:tx>
          <c:spPr>
            <a:solidFill>
              <a:srgbClr val="2F41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Mai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Ago</c:v>
                  </c:pt>
                  <c:pt idx="4">
                    <c:v>Set</c:v>
                  </c:pt>
                  <c:pt idx="5">
                    <c:v>Out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</c:v>
                </c:pt>
                <c:pt idx="1">
                  <c:v>431</c:v>
                </c:pt>
                <c:pt idx="2">
                  <c:v>416</c:v>
                </c:pt>
                <c:pt idx="3">
                  <c:v>437</c:v>
                </c:pt>
                <c:pt idx="4">
                  <c:v>419</c:v>
                </c:pt>
                <c:pt idx="5">
                  <c:v>434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4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0"/>
          <c:min val="38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4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B64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abre: agradece o convite da Tami e do time, apresenta a si e ao Caio, e diz o objetivo: mostrar como a DF vai representar o Einstein nas três unidades e responder todas as dúvidas. Tempo: 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DENISE: ~40 minutos de apresentação e o restante para perguntas. Apresenta rapidamente quem está na sala pela DF e em que cada um pode ajudar nas perguntas (Amanda: jurídico/convenção; Marco: financeiro/rateio; Cláudia: LGPD).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 lidera (visitou o Parque Global em 24/09 e leu o workshop). Mensagem: lemos o material do Einstein e entendemos que são três situações diferentes. Pinheiros: o Einstein assumiu da administradora os sistemas críticos — isso tem efeito direto no rateio. Artur de Azevedo: posição defensiva. Parque Global: governança entre setores. Não citar nomes de administradoras.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DENISE: este é o argumento central da DF. A DF não é administradora predial e não concorre com ela — fiscaliza a administradora em nome do Einstein. Reforçar: subsíndico setorial, não substitui o Síndico Geral, não vota sem autorização. Evitar falar em 'convocar/presidir assembleias' ou 'aprovar despesas' — a decisão é sempre do Einstein.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DENISE: números de porte. Destacar que a DF está do lado de quem precisa de uma representação técnica e independente: jurídico, engenharia e financeiro dentro de casa.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apresenta a equipe; pode pedir que Amanda, Marco e Cláudia se apresentem em 15 segundos cada. Atenção: a proposta enviada grafou 'Marco Murilo' — o nome correto no convite é Marco Murino.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conta o SPHQ I (correção por deliberação de assembleia, sem precisar reformar a convenção). CAIO conta o 17007 — a garagem é um paralelo direto com Pinheiros, onde o Einstein opera o estacionamento. Não temos o valor em R$ desses ajustes: se perguntarem, responder qualitativamente e oferecer o contato da referência.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CAIO: é o case mais próximo da RFP. A locação do Sírio-Libanês é pública, pode citar. Mensagem: já operamos hoje a convivência de hospital com outros usos e sabemos o que vira crítico. Passeio Paulista e Arquipeo em uma frase 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 explica as três fases. Exemplo genérico (sem citar a administradora): em Pinheiros o Einstein opera sistemas que atendem também o mall — é exatamente o subsídio cruzado que a RFP quer evitar. Marco pode complementar a parte de balancete se perguntarem.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DENISE: a Tami disse que não há mínimo de visitas e pediu a recomendação de cada proponente. Explicar a lógica: dedicação proporcional à complexidade; Pinheiros reforçado durante a implantação e o primeiro semestre de operação.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DENISE: aqui equalizamos os SLAs com a referência do e-mail de 30/09. Diferença em relação à proposta enviada: a primeira resposta da demanda ordinária passa de 2 dias úteis para 1 dia útil, e a crítica ganha 'plano de ação em até 4 horas'. Dizer explicitamente que a DF formaliza esse ajuste por escrito após a reunião.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(Amanda pode complementar a parte jurídica). Este slide responde ao maior receio da RFP — a regra aparece três vezes no edital. Conecta com o item 5 do e-mail de 30/09: preparação prévia, recomendação técnica, escalonamento, registro e comunicação estruturada.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CAIO: mostra o formato do produto que o Einstein vai receber. Deixar claro que os números são fictícios. O dashboard é entregue como relatório mensal (não é um sistema online). Reforçar: os seis entregáveis da RFP foram aceitos formalmente na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CAIO: cronograma. Do Einstein, a DF precisa de: ata de eleição, procurações aplicáveis, contratos, convenção, pastas de prestação de contas e contatos da administradora e do síndico geral. A Previsão Orçamentária 2027 é a vitória rápida.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abre; CLÁUDIA pode falar 30 segundos sobre LGPD se a banca demonstrar interesse. Ponto-chave: o serviço não depende de uma pessoa só (exigência do item 10.1 da RFP).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CAIO: sistema desenvolvido pela DF. Mostrar que a fiscalização da administradora é feita com dados. Não é um sistema que o Einstein precisa usar — é a ferramenta da DF que alimenta os relatórios. Se perguntarem sobre LGPD: dados nos ambientes autorizados, acesso por usuário.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CAIO: duas automações da DF. A triagem diária garante que nenhuma demanda se perca entre e-mails; a cobrança semanal mantém a documentação legal dos prédios em dia. Ligar com o slide de SLA.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e CAIO: relatórios elaborados pela DF no padrão que o Einstein receberia numa ocorrência crítica (apuração multi-prestador) e numa revisão de contrato (auditoria). Não citar os clientes nem os prédios — o próprio slide diz que é por sigilo. Se pedirem, oferecer mostrar uma versão anonimizada após a contratação.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DENISE: responde o item 6 do e-mail de 30/09 (deslocamentos, especialistas externos, pareceres jurídicos especializados, laudos). Terceira coluna: reforça a separação governança × operação, sem atacar concorrentes. Se perguntarem de preço: a proposta comercial já foi enviada; não discutir valores nesta reunião.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fecha a parte expositiva com os quatro motivos. Pausa e passa para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DENISE encerra e abre para perguntas. Usar os slides de apoio (anexo) conforme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Usar se perguntarem como a DF classifica as demandas.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Usar se perguntarem o que a DF precisa para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2F41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Brainstorm/41046cc5-cbd7-5c8f-b648-86ae48c3370d/scratchpad/deck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1325880" cy="84124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Brainstorm/41046cc5-cbd7-5c8f-b648-86ae48c3370d/scratchpad/deck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292608"/>
            <a:ext cx="658368" cy="42062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DF Síndicos Profissionais  ·  Defesa técnica — Representante Condominial Einstein  ·  Confidencial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48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DEFESA TÉCNICA DA PROPOSTA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Representante Condominial — Subsíndico Profissional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4"/>
                </a:solidFill>
              </a:rPr>
              <a:t>Einstein  ·  Parque Global  ·  Unidade Hospitalar Pinheiros  ·  Espaço Einstein Artur de Azevedo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23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Denise Ferreira</a:t>
            </a:r>
            <a:pPr indent="0" marL="0">
              <a:buNone/>
            </a:pPr>
            <a:r>
              <a:rPr lang="en-US" sz="1500" dirty="0">
                <a:solidFill>
                  <a:srgbClr val="CBD5E4"/>
                </a:solidFill>
              </a:rPr>
              <a:t>  CEO   ·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Caio Gavioli</a:t>
            </a:r>
            <a:pPr indent="0" marL="0">
              <a:buNone/>
            </a:pPr>
            <a:r>
              <a:rPr lang="en-US" sz="1500" dirty="0">
                <a:solidFill>
                  <a:srgbClr val="CBD5E4"/>
                </a:solidFill>
              </a:rPr>
              <a:t>  Diretor de Operações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5623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13 de outubro de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Agenda</a:t>
            </a:r>
            <a:endParaRPr lang="en-US" sz="3000" dirty="0"/>
          </a:p>
        </p:txBody>
      </p:sp>
      <p:sp>
        <p:nvSpPr>
          <p:cNvPr id="3" name="agenda-01"/>
          <p:cNvSpPr/>
          <p:nvPr/>
        </p:nvSpPr>
        <p:spPr>
          <a:xfrm>
            <a:off x="548640" y="141732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40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 que entendemos do Einstein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As três unidades e o papel do subsíndico</a:t>
            </a:r>
            <a:endParaRPr lang="en-US" sz="1400" dirty="0"/>
          </a:p>
        </p:txBody>
      </p:sp>
      <p:sp>
        <p:nvSpPr>
          <p:cNvPr id="7" name="agenda-02"/>
          <p:cNvSpPr/>
          <p:nvPr/>
        </p:nvSpPr>
        <p:spPr>
          <a:xfrm>
            <a:off x="4297680" y="141732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6459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240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Quem é a DF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6974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Números, equipe e cases semelhantes</a:t>
            </a:r>
            <a:endParaRPr lang="en-US" sz="1400" dirty="0"/>
          </a:p>
        </p:txBody>
      </p:sp>
      <p:sp>
        <p:nvSpPr>
          <p:cNvPr id="11" name="agenda-03"/>
          <p:cNvSpPr/>
          <p:nvPr/>
        </p:nvSpPr>
        <p:spPr>
          <a:xfrm>
            <a:off x="8046720" y="141732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459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240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Como vamos atuar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6974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Rateio, presença, SLAs e governança de voto</a:t>
            </a:r>
            <a:endParaRPr lang="en-US" sz="1400" dirty="0"/>
          </a:p>
        </p:txBody>
      </p:sp>
      <p:sp>
        <p:nvSpPr>
          <p:cNvPr id="15" name="agenda-04"/>
          <p:cNvSpPr/>
          <p:nvPr/>
        </p:nvSpPr>
        <p:spPr>
          <a:xfrm>
            <a:off x="548640" y="365760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38862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04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480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 que o Einstein recebe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9377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Entregáveis, mobilização, continuidade e controles DF</a:t>
            </a:r>
            <a:endParaRPr lang="en-US" sz="1400" dirty="0"/>
          </a:p>
        </p:txBody>
      </p:sp>
      <p:sp>
        <p:nvSpPr>
          <p:cNvPr id="19" name="agenda-05"/>
          <p:cNvSpPr/>
          <p:nvPr/>
        </p:nvSpPr>
        <p:spPr>
          <a:xfrm>
            <a:off x="4297680" y="365760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0" y="38862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05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4480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Escopo e premissas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9377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O que está incluído e onde termina o nosso papel</a:t>
            </a:r>
            <a:endParaRPr lang="en-US" sz="1400" dirty="0"/>
          </a:p>
        </p:txBody>
      </p:sp>
      <p:sp>
        <p:nvSpPr>
          <p:cNvPr id="23" name="agenda-06"/>
          <p:cNvSpPr/>
          <p:nvPr/>
        </p:nvSpPr>
        <p:spPr>
          <a:xfrm>
            <a:off x="8046720" y="365760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1040" y="38862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06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4480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Perguntas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49377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Saneamento das dúvidas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Pela DF na reunião: Denise Ferreira · Caio Gavioli · Amanda Tigre · Marco Murino · Cláudia De Santi · André Ferreira da Silva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Três unidades, três desafios diferentes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Um único modelo não serve às três — por isso a dedicação e o foco mudam por unidade</a:t>
            </a:r>
            <a:endParaRPr lang="en-US" sz="1500" dirty="0"/>
          </a:p>
        </p:txBody>
      </p:sp>
      <p:sp>
        <p:nvSpPr>
          <p:cNvPr id="4" name="unidade-0"/>
          <p:cNvSpPr/>
          <p:nvPr/>
        </p:nvSpPr>
        <p:spPr>
          <a:xfrm>
            <a:off x="548640" y="1600200"/>
            <a:ext cx="3520440" cy="452628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icone-fundo"/>
          <p:cNvSpPr/>
          <p:nvPr/>
        </p:nvSpPr>
        <p:spPr>
          <a:xfrm>
            <a:off x="822960" y="18745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010583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560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Parque Global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461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COMPLEXO MULTIUSO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61188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Setores e subcondomínios com despesas comuns e específicas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Múltiplos stakeholders e governança descentralizada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Maior complexidade de governança das três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530352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Foco: governança setorial e segregação de despesas</a:t>
            </a:r>
            <a:endParaRPr lang="en-US" sz="1300" dirty="0"/>
          </a:p>
        </p:txBody>
      </p:sp>
      <p:sp>
        <p:nvSpPr>
          <p:cNvPr id="11" name="unidade-1"/>
          <p:cNvSpPr/>
          <p:nvPr/>
        </p:nvSpPr>
        <p:spPr>
          <a:xfrm>
            <a:off x="4297680" y="1600200"/>
            <a:ext cx="3520440" cy="452628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2" name="icone-fundo"/>
          <p:cNvSpPr/>
          <p:nvPr/>
        </p:nvSpPr>
        <p:spPr>
          <a:xfrm>
            <a:off x="4572000" y="18745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8063" y="2010583"/>
            <a:ext cx="294803" cy="29480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572000" y="2560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Unidade Hospitalar Pinheiros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32461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OCUPANTE MAJORITÁRIO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61188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Einstein com ~95% de ocupação; mall com ~5%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Sistemas críticos operados diretamente pelo Einstein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Entrega da obra out/2026, operação jan/2027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530352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Foco: rateio dos sistemas críticos e implantação</a:t>
            </a:r>
            <a:endParaRPr lang="en-US" sz="1300" dirty="0"/>
          </a:p>
        </p:txBody>
      </p:sp>
      <p:sp>
        <p:nvSpPr>
          <p:cNvPr id="18" name="unidade-2"/>
          <p:cNvSpPr/>
          <p:nvPr/>
        </p:nvSpPr>
        <p:spPr>
          <a:xfrm>
            <a:off x="8046720" y="1600200"/>
            <a:ext cx="3520440" cy="452628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icone-fundo"/>
          <p:cNvSpPr/>
          <p:nvPr/>
        </p:nvSpPr>
        <p:spPr>
          <a:xfrm>
            <a:off x="8321040" y="18745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7103" y="2010583"/>
            <a:ext cx="294803" cy="29480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321040" y="2560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Espaço Einstein Artur de Azevedo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32461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CONDÔMINO MINORITÁRIO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8321040" y="361188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~1.400 m² no térreo e 1º pavimento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Edifício de terceiros, com outros usos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Necessidades específicas de operação de saúde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21040" y="530352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Foco: pagar só o que é seu e defender a operação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 subsíndico é governança — a operação é da administradora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Separar quem executa de quem fiscaliza é o que dá ao Einstein uma representação independente</a:t>
            </a:r>
            <a:endParaRPr lang="en-US" sz="1500" dirty="0"/>
          </a:p>
        </p:txBody>
      </p:sp>
      <p:sp>
        <p:nvSpPr>
          <p:cNvPr id="4" name="papel-0"/>
          <p:cNvSpPr/>
          <p:nvPr/>
        </p:nvSpPr>
        <p:spPr>
          <a:xfrm>
            <a:off x="548640" y="1645920"/>
            <a:ext cx="2788920" cy="3931920"/>
          </a:xfrm>
          <a:prstGeom prst="roundRect">
            <a:avLst>
              <a:gd name="adj" fmla="val 2623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EINSTEIN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Decide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80360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Aprova votos e posicionamentos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Define alçadas e prioridades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Recebe análises e recomendações</a:t>
            </a:r>
            <a:endParaRPr lang="en-US" sz="1400" dirty="0"/>
          </a:p>
        </p:txBody>
      </p:sp>
      <p:pic>
        <p:nvPicPr>
          <p:cNvPr id="8" name="set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64992" y="3429000"/>
            <a:ext cx="201168" cy="365760"/>
          </a:xfrm>
          <a:prstGeom prst="rect">
            <a:avLst/>
          </a:prstGeom>
        </p:spPr>
      </p:pic>
      <p:sp>
        <p:nvSpPr>
          <p:cNvPr id="9" name="papel-1"/>
          <p:cNvSpPr/>
          <p:nvPr/>
        </p:nvSpPr>
        <p:spPr>
          <a:xfrm>
            <a:off x="3611880" y="1645920"/>
            <a:ext cx="2788920" cy="3931920"/>
          </a:xfrm>
          <a:prstGeom prst="roundRect">
            <a:avLst>
              <a:gd name="adj" fmla="val 2623"/>
            </a:avLst>
          </a:prstGeom>
          <a:solidFill>
            <a:srgbClr val="B8934A"/>
          </a:solidFill>
          <a:ln w="12700">
            <a:solidFill>
              <a:srgbClr val="B8934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840480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DF — SUBSÍNDICA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Representa e fiscaliza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2880360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Representa o Einstein nas instâncias condominiais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Analisa orçamento, rateio, contratos e contas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Fiscaliza e cobra a administradora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Recomenda — nunca vota sem autorização</a:t>
            </a:r>
            <a:endParaRPr lang="en-US" sz="1400" dirty="0"/>
          </a:p>
        </p:txBody>
      </p:sp>
      <p:pic>
        <p:nvPicPr>
          <p:cNvPr id="13" name="set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3429000"/>
            <a:ext cx="201168" cy="365760"/>
          </a:xfrm>
          <a:prstGeom prst="rect">
            <a:avLst/>
          </a:prstGeom>
        </p:spPr>
      </p:pic>
      <p:sp>
        <p:nvSpPr>
          <p:cNvPr id="14" name="papel-2"/>
          <p:cNvSpPr/>
          <p:nvPr/>
        </p:nvSpPr>
        <p:spPr>
          <a:xfrm>
            <a:off x="6675120" y="1645920"/>
            <a:ext cx="2788920" cy="3931920"/>
          </a:xfrm>
          <a:prstGeom prst="roundRect">
            <a:avLst>
              <a:gd name="adj" fmla="val 262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903720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2A37"/>
                </a:solidFill>
              </a:rPr>
              <a:t>ADMINISTRADORA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903720" y="2240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7"/>
                </a:solidFill>
              </a:rPr>
              <a:t>Executa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6903720" y="2880360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</a:rPr>
              <a:t>Operação diária, equipes e fornecedores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</a:rPr>
              <a:t>Contas a pagar e receber, boletos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</a:rPr>
              <a:t>Elabora balancetes e prestação de contas</a:t>
            </a:r>
            <a:endParaRPr lang="en-US" sz="1400" dirty="0"/>
          </a:p>
        </p:txBody>
      </p:sp>
      <p:sp>
        <p:nvSpPr>
          <p:cNvPr id="18" name="alerta"/>
          <p:cNvSpPr/>
          <p:nvPr/>
        </p:nvSpPr>
        <p:spPr>
          <a:xfrm>
            <a:off x="9829800" y="1645920"/>
            <a:ext cx="1828800" cy="3931920"/>
          </a:xfrm>
          <a:prstGeom prst="roundRect">
            <a:avLst>
              <a:gd name="adj" fmla="val 4000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19" name="icone-fundo"/>
          <p:cNvSpPr/>
          <p:nvPr/>
        </p:nvSpPr>
        <p:spPr>
          <a:xfrm>
            <a:off x="10460736" y="1874520"/>
            <a:ext cx="566928" cy="566928"/>
          </a:xfrm>
          <a:prstGeom prst="ellipse">
            <a:avLst/>
          </a:prstGeom>
          <a:solidFill>
            <a:srgbClr val="B8934A"/>
          </a:solidFill>
          <a:ln w="12700">
            <a:solidFill>
              <a:srgbClr val="B8934A"/>
            </a:solidFill>
            <a:prstDash val="solid"/>
          </a:ln>
        </p:spPr>
      </p:sp>
      <p:pic>
        <p:nvPicPr>
          <p:cNvPr id="20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6799" y="2010583"/>
            <a:ext cx="294803" cy="29480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966960" y="2606040"/>
            <a:ext cx="1554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Se a administradora ocupar também a subsindicância, quem fiscaliza a administradora?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Subsíndico setorial, nos termos da convenção: não substitui o Síndico Geral e atua sempre dentro das alçadas definidas pelo Einstein.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 DF em números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Sindicância profissional de empreendimentos corporativos, multiuso e logísticos em São Paulo e no Rio de Janeiro</a:t>
            </a:r>
            <a:endParaRPr lang="en-US" sz="1500" dirty="0"/>
          </a:p>
        </p:txBody>
      </p:sp>
      <p:sp>
        <p:nvSpPr>
          <p:cNvPr id="4" name="numero-0"/>
          <p:cNvSpPr/>
          <p:nvPr/>
        </p:nvSpPr>
        <p:spPr>
          <a:xfrm>
            <a:off x="548640" y="16916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40+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200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condomínios sob gestão</a:t>
            </a:r>
            <a:endParaRPr lang="en-US" sz="1500" dirty="0"/>
          </a:p>
        </p:txBody>
      </p:sp>
      <p:sp>
        <p:nvSpPr>
          <p:cNvPr id="7" name="numero-1"/>
          <p:cNvSpPr/>
          <p:nvPr/>
        </p:nvSpPr>
        <p:spPr>
          <a:xfrm>
            <a:off x="3364992" y="16916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3592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2 mi m²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93592" y="3200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de área locável sob gestão</a:t>
            </a:r>
            <a:endParaRPr lang="en-US" sz="1500" dirty="0"/>
          </a:p>
        </p:txBody>
      </p:sp>
      <p:sp>
        <p:nvSpPr>
          <p:cNvPr id="10" name="numero-2"/>
          <p:cNvSpPr/>
          <p:nvPr/>
        </p:nvSpPr>
        <p:spPr>
          <a:xfrm>
            <a:off x="6181344" y="16916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9944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R$ 24 mi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09944" y="3200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de OPEX mensal sob gestão</a:t>
            </a:r>
            <a:endParaRPr lang="en-US" sz="1500" dirty="0"/>
          </a:p>
        </p:txBody>
      </p:sp>
      <p:sp>
        <p:nvSpPr>
          <p:cNvPr id="13" name="numero-3"/>
          <p:cNvSpPr/>
          <p:nvPr/>
        </p:nvSpPr>
        <p:spPr>
          <a:xfrm>
            <a:off x="8997696" y="16916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6296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R$ 35 mi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226296" y="32004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de CAPEX por ano sob gestão</a:t>
            </a:r>
            <a:endParaRPr lang="en-US" sz="1500" dirty="0"/>
          </a:p>
        </p:txBody>
      </p:sp>
      <p:sp>
        <p:nvSpPr>
          <p:cNvPr id="16" name="icone-fundo"/>
          <p:cNvSpPr/>
          <p:nvPr/>
        </p:nvSpPr>
        <p:spPr>
          <a:xfrm>
            <a:off x="548640" y="4892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5012741"/>
            <a:ext cx="261518" cy="26151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188720" y="48463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Síndica profissional desde 2000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5257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Trajetória da fundadora, com 16 anos à frente da divisão imobiliária de um family office de acionistas do Itaú</a:t>
            </a:r>
            <a:endParaRPr lang="en-US" sz="1300" dirty="0"/>
          </a:p>
        </p:txBody>
      </p:sp>
      <p:sp>
        <p:nvSpPr>
          <p:cNvPr id="20" name="icone-fundo"/>
          <p:cNvSpPr/>
          <p:nvPr/>
        </p:nvSpPr>
        <p:spPr>
          <a:xfrm>
            <a:off x="4297680" y="4892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381" y="5012741"/>
            <a:ext cx="261518" cy="26151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937760" y="48463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Jurídico e engenharia na casa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4937760" y="5257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Sócias advogadas em Direito Imobiliário e diretor de operações engenheiro eletricista</a:t>
            </a:r>
            <a:endParaRPr lang="en-US" sz="1300" dirty="0"/>
          </a:p>
        </p:txBody>
      </p:sp>
      <p:sp>
        <p:nvSpPr>
          <p:cNvPr id="24" name="icone-fundo"/>
          <p:cNvSpPr/>
          <p:nvPr/>
        </p:nvSpPr>
        <p:spPr>
          <a:xfrm>
            <a:off x="8046720" y="4892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7421" y="5012741"/>
            <a:ext cx="261518" cy="26151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686800" y="48463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Clientes de primeira linha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8686800" y="5257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Gestoras, fundos e proprietários de ativos AAA, com atestados de capacidade técnica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Equipe dedicada ao Einstein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Uma titular, dois substitutos qualificados e retaguarda especializada — o serviço não depende de uma pessoa só</a:t>
            </a:r>
            <a:endParaRPr lang="en-US" sz="1500" dirty="0"/>
          </a:p>
        </p:txBody>
      </p:sp>
      <p:pic>
        <p:nvPicPr>
          <p:cNvPr id="4" name="foto-0" descr="/tmp/claude-0/-home-user-Brainstorm/41046cc5-cbd7-5c8f-b648-86ae48c3370d/scratchpad/deck/deni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691640"/>
            <a:ext cx="1737360" cy="1737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6576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Denise Ferreira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04164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accent2"/>
                </a:solidFill>
              </a:rPr>
              <a:t>TITULAR · CEO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443484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Advogada, pós em Direito Imobiliário (PUC-SP), síndica profissional desde 2000. Interlocutora oficial, assembleias e governança de voto.</a:t>
            </a:r>
            <a:endParaRPr lang="en-US" sz="1350" dirty="0"/>
          </a:p>
        </p:txBody>
      </p:sp>
      <p:pic>
        <p:nvPicPr>
          <p:cNvPr id="8" name="foto-1" descr="/tmp/claude-0/-home-user-Brainstorm/41046cc5-cbd7-5c8f-b648-86ae48c3370d/scratchpad/deck/aman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8768" y="1691640"/>
            <a:ext cx="1737360" cy="1737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36576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Amanda Tigre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404164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accent2"/>
                </a:solidFill>
              </a:rPr>
              <a:t>SUBSTITUTA · SÓCIA DIRETORA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3429000" y="443484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Advogada, pós em Direito Imobiliário (PUC-SP). Contratos, pareceres jurídicos e interpretação da convenção.</a:t>
            </a:r>
            <a:endParaRPr lang="en-US" sz="1350" dirty="0"/>
          </a:p>
        </p:txBody>
      </p:sp>
      <p:pic>
        <p:nvPicPr>
          <p:cNvPr id="12" name="foto-2" descr="/tmp/claude-0/-home-user-Brainstorm/41046cc5-cbd7-5c8f-b648-86ae48c3370d/scratchpad/deck/cai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08" y="1691640"/>
            <a:ext cx="1737360" cy="17373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36576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Caio Gavioli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404164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accent2"/>
                </a:solidFill>
              </a:rPr>
              <a:t>SUBSTITUTO · DIRETOR DE OPERAÇÕES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6263640" y="443484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Engenheiro eletricista (Mackenzie), pós em Segurança do Trabalho. Sistemas críticos, manutenção e custos de infraestrutura.</a:t>
            </a:r>
            <a:endParaRPr lang="en-US" sz="1350" dirty="0"/>
          </a:p>
        </p:txBody>
      </p:sp>
      <p:sp>
        <p:nvSpPr>
          <p:cNvPr id="16" name="retaguarda"/>
          <p:cNvSpPr/>
          <p:nvPr/>
        </p:nvSpPr>
        <p:spPr>
          <a:xfrm>
            <a:off x="9098280" y="1600200"/>
            <a:ext cx="2560320" cy="4572000"/>
          </a:xfrm>
          <a:prstGeom prst="roundRect">
            <a:avLst>
              <a:gd name="adj" fmla="val 285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932688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RETAGUARDA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9326880" y="2194560"/>
            <a:ext cx="21945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Marco Murino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Gerente Financeiro — balancetes, orçamento e rateio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Cláudia De Santi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Diretora de LGPD — proteção de dados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Prepostos DF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Administradores, engenheiros e advogados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Parceiros de mercado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Jurídico, engenharia e consultoria, contratados por concorrência e com aprovação do Einstein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Cases de rateio: o subsídio cruzado que a RFP quer evitar</a:t>
            </a:r>
            <a:endParaRPr lang="en-US" sz="3000" dirty="0"/>
          </a:p>
        </p:txBody>
      </p:sp>
      <p:sp>
        <p:nvSpPr>
          <p:cNvPr id="3" name="case-0"/>
          <p:cNvSpPr/>
          <p:nvPr/>
        </p:nvSpPr>
        <p:spPr>
          <a:xfrm>
            <a:off x="548640" y="1188720"/>
            <a:ext cx="5394960" cy="4983480"/>
          </a:xfrm>
          <a:prstGeom prst="roundRect">
            <a:avLst>
              <a:gd name="adj" fmla="val 146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SPHQ I</a:t>
            </a:r>
            <a:endParaRPr lang="en-US" sz="2400" dirty="0"/>
          </a:p>
        </p:txBody>
      </p:sp>
      <p:sp>
        <p:nvSpPr>
          <p:cNvPr id="5" name="etiqueta"/>
          <p:cNvSpPr/>
          <p:nvPr/>
        </p:nvSpPr>
        <p:spPr>
          <a:xfrm>
            <a:off x="3977640" y="1463040"/>
            <a:ext cx="1737360" cy="384048"/>
          </a:xfrm>
          <a:prstGeom prst="roundRect">
            <a:avLst>
              <a:gd name="adj" fmla="val 47619"/>
            </a:avLst>
          </a:prstGeom>
          <a:solidFill>
            <a:srgbClr val="B8934A"/>
          </a:solidFill>
          <a:ln w="12700">
            <a:solidFill>
              <a:srgbClr val="B893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977640" y="146304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Semelhante ao Parque Global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965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São Paulo · 64 mil m² · condomínio geral + 3 subcondomínios · DF síndica desde 2014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60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DESAFIO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85292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Convenção previa rateio único por fração ideal; subcondomínios pagavam despesas uns dos outros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749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O QUE A DF FEZ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04164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Levantamento de áreas, estruturas e equipamentos; criação de um Coeficiente de Rateio de Despesas (CRD) aprovado em assembleia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937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RESULTADO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23036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Cada subcondomínio paga só o que é seu</a:t>
            </a:r>
            <a:endParaRPr lang="en-US" sz="1500" dirty="0"/>
          </a:p>
        </p:txBody>
      </p:sp>
      <p:sp>
        <p:nvSpPr>
          <p:cNvPr id="14" name="case-1"/>
          <p:cNvSpPr/>
          <p:nvPr/>
        </p:nvSpPr>
        <p:spPr>
          <a:xfrm>
            <a:off x="6172200" y="1188720"/>
            <a:ext cx="5394960" cy="4983480"/>
          </a:xfrm>
          <a:prstGeom prst="roundRect">
            <a:avLst>
              <a:gd name="adj" fmla="val 146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14173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17007 Nações</a:t>
            </a:r>
            <a:endParaRPr lang="en-US" sz="2400" dirty="0"/>
          </a:p>
        </p:txBody>
      </p:sp>
      <p:sp>
        <p:nvSpPr>
          <p:cNvPr id="16" name="etiqueta"/>
          <p:cNvSpPr/>
          <p:nvPr/>
        </p:nvSpPr>
        <p:spPr>
          <a:xfrm>
            <a:off x="9601200" y="1463040"/>
            <a:ext cx="1737360" cy="384048"/>
          </a:xfrm>
          <a:prstGeom prst="roundRect">
            <a:avLst>
              <a:gd name="adj" fmla="val 47619"/>
            </a:avLst>
          </a:prstGeom>
          <a:solidFill>
            <a:srgbClr val="B8934A"/>
          </a:solidFill>
          <a:ln w="12700">
            <a:solidFill>
              <a:srgbClr val="B893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0" y="146304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Semelhante a Pinheiros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1965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São Paulo · Torres Sigma e Alpha + garagem + mall · DF síndica desde 2025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2560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DESAFIO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285292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Rateio fora da convenção: o subcondomínio garagem pagava muito acima das suas despesas reais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3749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O QUE A DF FEZ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404164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Diagnóstico de engenharia, financeiro e jurídico; revisão do rateio e reorganização da gestão com a administradora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46520" y="4937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RESULTADO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46520" y="523036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Garagem paga o real; diferença redistribuída entre as torres; mall não onerado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Hospital dentro de condomínio multiuso: já fazemos isso hoje</a:t>
            </a:r>
            <a:endParaRPr lang="en-US" sz="3000" dirty="0"/>
          </a:p>
        </p:txBody>
      </p:sp>
      <p:sp>
        <p:nvSpPr>
          <p:cNvPr id="3" name="case-oparque"/>
          <p:cNvSpPr/>
          <p:nvPr/>
        </p:nvSpPr>
        <p:spPr>
          <a:xfrm>
            <a:off x="548640" y="1188720"/>
            <a:ext cx="6766560" cy="4983480"/>
          </a:xfrm>
          <a:prstGeom prst="roundRect">
            <a:avLst>
              <a:gd name="adj" fmla="val 146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icone-fundo"/>
          <p:cNvSpPr/>
          <p:nvPr/>
        </p:nvSpPr>
        <p:spPr>
          <a:xfrm>
            <a:off x="822960" y="14173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1553383"/>
            <a:ext cx="294803" cy="2948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417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Complexo O Parque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0312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chemeClr val="accent3"/>
                </a:solidFill>
              </a:rPr>
              <a:t>São Paulo (Brooklin) · torre de escritórios + torre do Hospital Sírio-Libanês (~10 mil m², 9 andares) + duas torres residenciais + varejo · DF síndica desde o início de 2026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80360"/>
            <a:ext cx="6217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Desafio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Implantação com o complexo ainda em obras e ocupantes entrando; sincronizar escritórios, hospital e moradores sensíveis a obras, ruído e horários.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 que muda com o hospital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Perfil do público, fluxo de pacientes e acompanhantes, estacionamento — e elevadores, geradores e água passam a ser operação crítica.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 que a DF faz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Coordena a operação do complexo, compatibiliza as regras de cada segmento e estrutura a gestão dos sistemas críticos para a operação hospitalar.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1234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TAMBÉM NA CARTEIRA</a:t>
            </a:r>
            <a:endParaRPr lang="en-US" sz="1200" dirty="0"/>
          </a:p>
        </p:txBody>
      </p:sp>
      <p:sp>
        <p:nvSpPr>
          <p:cNvPr id="10" name="apoio-0"/>
          <p:cNvSpPr/>
          <p:nvPr/>
        </p:nvSpPr>
        <p:spPr>
          <a:xfrm>
            <a:off x="7680960" y="164592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18105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Passeio Paulista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21945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Uso misto AAA — torre corporativa, lojas e lofts residenciais. DF síndica desde 2025.</a:t>
            </a:r>
            <a:endParaRPr lang="en-US" sz="1250" dirty="0"/>
          </a:p>
        </p:txBody>
      </p:sp>
      <p:sp>
        <p:nvSpPr>
          <p:cNvPr id="13" name="apoio-1"/>
          <p:cNvSpPr/>
          <p:nvPr/>
        </p:nvSpPr>
        <p:spPr>
          <a:xfrm>
            <a:off x="7680960" y="324612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09560" y="34107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Arquipeo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909560" y="37947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57 mil m² para um único grande ocupante (~4.000 pessoas). Planos de contingência. DF síndica desde 2024.</a:t>
            </a:r>
            <a:endParaRPr lang="en-US" sz="1250" dirty="0"/>
          </a:p>
        </p:txBody>
      </p:sp>
      <p:sp>
        <p:nvSpPr>
          <p:cNvPr id="16" name="semelhanca"/>
          <p:cNvSpPr/>
          <p:nvPr/>
        </p:nvSpPr>
        <p:spPr>
          <a:xfrm>
            <a:off x="7680960" y="489204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909560" y="498348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Hospital em condomínio multiuso (Parque Global) + implantação junto com a entrada em operação (Pinheiros)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Metodologia de análise e validação de rateios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Prioridade da RFP: alocação correta de custos e nenhum subsídio cruzado entre setores</a:t>
            </a:r>
            <a:endParaRPr lang="en-US" sz="1500" dirty="0"/>
          </a:p>
        </p:txBody>
      </p:sp>
      <p:sp>
        <p:nvSpPr>
          <p:cNvPr id="4" name="fase-0"/>
          <p:cNvSpPr/>
          <p:nvPr/>
        </p:nvSpPr>
        <p:spPr>
          <a:xfrm>
            <a:off x="548640" y="1600200"/>
            <a:ext cx="3520440" cy="352044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icone-fundo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1995221"/>
            <a:ext cx="261518" cy="26151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8745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1  Diagnóstico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762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até D+60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606040"/>
            <a:ext cx="30175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Convenção, especificação, frações, contratos, orçamento e 12 balancetes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Entrevistas e visita técnica: áreas, uso e medidores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Matriz de critério por conta (fração, área, consumo, uso)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Relatório: situação atual × situação correta</a:t>
            </a:r>
            <a:endParaRPr lang="en-US" sz="1300" dirty="0"/>
          </a:p>
        </p:txBody>
      </p:sp>
      <p:sp>
        <p:nvSpPr>
          <p:cNvPr id="10" name="fase-1"/>
          <p:cNvSpPr/>
          <p:nvPr/>
        </p:nvSpPr>
        <p:spPr>
          <a:xfrm>
            <a:off x="4297680" y="1600200"/>
            <a:ext cx="3520440" cy="352044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icone-fundo"/>
          <p:cNvSpPr/>
          <p:nvPr/>
        </p:nvSpPr>
        <p:spPr>
          <a:xfrm>
            <a:off x="4572000" y="1874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2701" y="1995221"/>
            <a:ext cx="261518" cy="26151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12080" y="18745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  Rotina mensal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5212080" y="21762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todo mês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2606040"/>
            <a:ext cx="30175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Revisão do balancete contra orçamento e contratos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Conferência das pastas de prestação de contas por amostragem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Gatilho: conta com desvio de ±5% → parecer com recomendação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Resultados no relatório mensal e no dashboard</a:t>
            </a:r>
            <a:endParaRPr lang="en-US" sz="1300" dirty="0"/>
          </a:p>
        </p:txBody>
      </p:sp>
      <p:sp>
        <p:nvSpPr>
          <p:cNvPr id="16" name="fase-2"/>
          <p:cNvSpPr/>
          <p:nvPr/>
        </p:nvSpPr>
        <p:spPr>
          <a:xfrm>
            <a:off x="8046720" y="1600200"/>
            <a:ext cx="3520440" cy="352044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7" name="icone-fundo"/>
          <p:cNvSpPr/>
          <p:nvPr/>
        </p:nvSpPr>
        <p:spPr>
          <a:xfrm>
            <a:off x="8321040" y="1874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1741" y="1995221"/>
            <a:ext cx="261518" cy="26151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961120" y="18745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3  Orçamento e eventos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8961120" y="21762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anual / sob demanda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321040" y="2606040"/>
            <a:ext cx="30175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Revisão da matriz na Previsão Orçamentária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Simulação do rateio por setor antes da votação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Revisão em novo contrato, obra ou mudança de ocupação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Proposta formal de correção em assembleia; validação das contas antes da AGO</a:t>
            </a:r>
            <a:endParaRPr lang="en-US" sz="1300" dirty="0"/>
          </a:p>
        </p:txBody>
      </p:sp>
      <p:sp>
        <p:nvSpPr>
          <p:cNvPr id="22" name="exemplo"/>
          <p:cNvSpPr/>
          <p:nvPr/>
        </p:nvSpPr>
        <p:spPr>
          <a:xfrm>
            <a:off x="548640" y="5303520"/>
            <a:ext cx="11109960" cy="868680"/>
          </a:xfrm>
          <a:prstGeom prst="roundRect">
            <a:avLst>
              <a:gd name="adj" fmla="val 8421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534924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Exemplo do que procuramos: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sistemas operados e pagos por um condômino — geradores, subestação, elevadores, estacionamento — que também atendem outros setores. Sem critério de reembolso, quem opera subsidia os demais.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Presença e dedicação por unidade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Visitas presenciais de 6 horas, sempre com a titular; visitas técnicas do Diretor de Operações em paralelo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5836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presenca-0"/>
          <p:cNvSpPr/>
          <p:nvPr/>
        </p:nvSpPr>
        <p:spPr>
          <a:xfrm>
            <a:off x="7452360" y="155448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80960" y="1691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Parque Global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692640" y="1691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46 h/mês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20574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Semanal (4 visitas) + visita técnica mensal + todas as assembleias</a:t>
            </a:r>
            <a:endParaRPr lang="en-US" sz="1250" dirty="0"/>
          </a:p>
        </p:txBody>
      </p:sp>
      <p:sp>
        <p:nvSpPr>
          <p:cNvPr id="9" name="presenca-1"/>
          <p:cNvSpPr/>
          <p:nvPr/>
        </p:nvSpPr>
        <p:spPr>
          <a:xfrm>
            <a:off x="7452360" y="297180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Pinheiros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692640" y="3108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48 → 28 h/mês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34747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Semanal até jun/2027 (implantação), depois quinzenal; 2 visitas técnicas/mês na implantação</a:t>
            </a:r>
            <a:endParaRPr lang="en-US" sz="1250" dirty="0"/>
          </a:p>
        </p:txBody>
      </p:sp>
      <p:sp>
        <p:nvSpPr>
          <p:cNvPr id="13" name="presenca-2"/>
          <p:cNvSpPr/>
          <p:nvPr/>
        </p:nvSpPr>
        <p:spPr>
          <a:xfrm>
            <a:off x="7452360" y="438912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80960" y="4526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Artur de Azevedo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692640" y="4526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~14 h/mês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680960" y="489204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Mensal + visita técnica trimestral + todas as assembleias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452360" y="58521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Incluídos em todas: assembleias ordinárias e extraordinárias, reunião mensal com o Einstein e plantão 24x7.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SLAs alinhados à referência do Einstein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Compromisso da DF igual ou melhor que a referência enviada pelo Einstein em 30/09</a:t>
            </a:r>
            <a:endParaRPr lang="en-US" sz="1500" dirty="0"/>
          </a:p>
        </p:txBody>
      </p:sp>
      <p:graphicFrame>
        <p:nvGraphicFramePr>
          <p:cNvPr id="12" name="tabela-s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109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920240"/>
                <a:gridCol w="2377440"/>
                <a:gridCol w="2240280"/>
                <a:gridCol w="2514600"/>
                <a:gridCol w="594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Einstein — resposta inicial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Einstein — parecer / encaminhamento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 — resposta inicial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 — parecer / encaminhamento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 hora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4 horas ou plano de ação imediato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30 min, por telefone, 24x7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ação em até 4 h; presença em até 6 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7D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4 horas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 dia útil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 horas úteis, por telefone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 dia útil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7D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Ordinária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 dia útil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5 dias úteis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 dia útil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5 dias úteis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7D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 dias úteis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4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acordado conforme escopo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 dia útil, com prazo proposto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10 dias úteis, prévia em 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7D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sla-extra-0"/>
          <p:cNvSpPr/>
          <p:nvPr/>
        </p:nvSpPr>
        <p:spPr>
          <a:xfrm>
            <a:off x="548640" y="489204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6" name="icone-fundo"/>
          <p:cNvSpPr/>
          <p:nvPr/>
        </p:nvSpPr>
        <p:spPr>
          <a:xfrm>
            <a:off x="777240" y="51206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5241341"/>
            <a:ext cx="261518" cy="26151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0292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Parecer para assembleia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463040" y="53492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até 3 dias úteis após o edital e no mínimo 5 dias úteis antes da assembleia — tempo para as alçadas internas do Einstein</a:t>
            </a:r>
            <a:endParaRPr lang="en-US" sz="1250" dirty="0"/>
          </a:p>
        </p:txBody>
      </p:sp>
      <p:sp>
        <p:nvSpPr>
          <p:cNvPr id="10" name="sla-extra-1"/>
          <p:cNvSpPr/>
          <p:nvPr/>
        </p:nvSpPr>
        <p:spPr>
          <a:xfrm>
            <a:off x="6172200" y="489204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11" name="icone-fundo"/>
          <p:cNvSpPr/>
          <p:nvPr/>
        </p:nvSpPr>
        <p:spPr>
          <a:xfrm>
            <a:off x="6400800" y="51206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01" y="5241341"/>
            <a:ext cx="261518" cy="26151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86600" y="50292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Plantão 24x7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086600" y="53492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Denise → Amanda → Caio → prepostos da DF; horário comercial de segunda a sexta, das 8h às 18h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Governança: nenhum voto sem autorização escrita do Einstein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Inclusive em matérias de rotina — a DF analisa e recomenda; o Einstein decide</a:t>
            </a:r>
            <a:endParaRPr lang="en-US" sz="1500" dirty="0"/>
          </a:p>
        </p:txBody>
      </p:sp>
      <p:sp>
        <p:nvSpPr>
          <p:cNvPr id="4" name="etapa-1"/>
          <p:cNvSpPr/>
          <p:nvPr/>
        </p:nvSpPr>
        <p:spPr>
          <a:xfrm>
            <a:off x="548640" y="1645920"/>
            <a:ext cx="1737360" cy="301752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34A"/>
                </a:solidFill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23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162"/>
                </a:solidFill>
              </a:rPr>
              <a:t>Classificação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346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</a:rPr>
              <a:t>Pauta classificada em rotina ou estratégica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069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934A"/>
                </a:solidFill>
              </a:rPr>
              <a:t>1 dia útil após o edital</a:t>
            </a:r>
            <a:endParaRPr lang="en-US" sz="1100" dirty="0"/>
          </a:p>
        </p:txBody>
      </p:sp>
      <p:sp>
        <p:nvSpPr>
          <p:cNvPr id="9" name="etapa-2"/>
          <p:cNvSpPr/>
          <p:nvPr/>
        </p:nvSpPr>
        <p:spPr>
          <a:xfrm>
            <a:off x="2423160" y="1645920"/>
            <a:ext cx="1737360" cy="301752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0604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34A"/>
                </a:solidFill>
              </a:rPr>
              <a:t>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606040" y="2423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162"/>
                </a:solidFill>
              </a:rPr>
              <a:t>Análise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28346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</a:rPr>
              <a:t>Nota (rotina) ou parecer completo (estratégica) com recomendação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606040" y="4069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934A"/>
                </a:solidFill>
              </a:rPr>
              <a:t>3 dias úteis após o edital</a:t>
            </a:r>
            <a:endParaRPr lang="en-US" sz="1100" dirty="0"/>
          </a:p>
        </p:txBody>
      </p:sp>
      <p:sp>
        <p:nvSpPr>
          <p:cNvPr id="14" name="etapa-3"/>
          <p:cNvSpPr/>
          <p:nvPr/>
        </p:nvSpPr>
        <p:spPr>
          <a:xfrm>
            <a:off x="4297680" y="1645920"/>
            <a:ext cx="1737360" cy="301752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48056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34A"/>
                </a:solidFill>
              </a:rPr>
              <a:t>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480560" y="2423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162"/>
                </a:solidFill>
              </a:rPr>
              <a:t>Alinhamento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28346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</a:rPr>
              <a:t>Reunião ou call com os representantes do Einstein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4069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934A"/>
                </a:solidFill>
              </a:rPr>
              <a:t>antes da autorização</a:t>
            </a:r>
            <a:endParaRPr lang="en-US" sz="1100" dirty="0"/>
          </a:p>
        </p:txBody>
      </p:sp>
      <p:sp>
        <p:nvSpPr>
          <p:cNvPr id="19" name="etapa-4"/>
          <p:cNvSpPr/>
          <p:nvPr/>
        </p:nvSpPr>
        <p:spPr>
          <a:xfrm>
            <a:off x="6172200" y="1645920"/>
            <a:ext cx="1737360" cy="3017520"/>
          </a:xfrm>
          <a:prstGeom prst="roundRect">
            <a:avLst>
              <a:gd name="adj" fmla="val 4211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34A"/>
                </a:solidFill>
              </a:rPr>
              <a:t>4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423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Autorização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28346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Orientação de voto por escrito, conforme alçadas; procuração quando necessária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4069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CBD5E4"/>
                </a:solidFill>
              </a:rPr>
              <a:t>antes da assembleia</a:t>
            </a:r>
            <a:endParaRPr lang="en-US" sz="1100" dirty="0"/>
          </a:p>
        </p:txBody>
      </p:sp>
      <p:sp>
        <p:nvSpPr>
          <p:cNvPr id="24" name="etapa-5"/>
          <p:cNvSpPr/>
          <p:nvPr/>
        </p:nvSpPr>
        <p:spPr>
          <a:xfrm>
            <a:off x="8046720" y="1645920"/>
            <a:ext cx="1737360" cy="301752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34A"/>
                </a:solidFill>
              </a:rPr>
              <a:t>5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2423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162"/>
                </a:solidFill>
              </a:rPr>
              <a:t>Assembleia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28346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</a:rPr>
              <a:t>A DF vota exatamente conforme autorizado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0" y="4069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934A"/>
                </a:solidFill>
              </a:rPr>
              <a:t>na assembleia</a:t>
            </a:r>
            <a:endParaRPr lang="en-US" sz="1100" dirty="0"/>
          </a:p>
        </p:txBody>
      </p:sp>
      <p:sp>
        <p:nvSpPr>
          <p:cNvPr id="29" name="etapa-6"/>
          <p:cNvSpPr/>
          <p:nvPr/>
        </p:nvSpPr>
        <p:spPr>
          <a:xfrm>
            <a:off x="9921240" y="1645920"/>
            <a:ext cx="1737360" cy="3017520"/>
          </a:xfrm>
          <a:prstGeom prst="roundRect">
            <a:avLst>
              <a:gd name="adj" fmla="val 421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104120" y="1828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34A"/>
                </a:solidFill>
              </a:rPr>
              <a:t>6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10104120" y="2423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4162"/>
                </a:solidFill>
              </a:rPr>
              <a:t>Registro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104120" y="28346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</a:rPr>
              <a:t>Deliberações e recomendações registradas e enviadas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04120" y="4069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8934A"/>
                </a:solidFill>
              </a:rPr>
              <a:t>até 5 dias úteis após</a:t>
            </a:r>
            <a:endParaRPr lang="en-US" sz="1100" dirty="0"/>
          </a:p>
        </p:txBody>
      </p:sp>
      <p:sp>
        <p:nvSpPr>
          <p:cNvPr id="34" name="imprevistos"/>
          <p:cNvSpPr/>
          <p:nvPr/>
        </p:nvSpPr>
        <p:spPr>
          <a:xfrm>
            <a:off x="548640" y="4892040"/>
            <a:ext cx="11109960" cy="1280160"/>
          </a:xfrm>
          <a:prstGeom prst="roundRect">
            <a:avLst>
              <a:gd name="adj" fmla="val 5714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5" name="icone-fundo"/>
          <p:cNvSpPr/>
          <p:nvPr/>
        </p:nvSpPr>
        <p:spPr>
          <a:xfrm>
            <a:off x="777240" y="5257800"/>
            <a:ext cx="548640" cy="548640"/>
          </a:xfrm>
          <a:prstGeom prst="ellipse">
            <a:avLst/>
          </a:prstGeom>
          <a:solidFill>
            <a:srgbClr val="B8934A"/>
          </a:solidFill>
          <a:ln w="12700">
            <a:solidFill>
              <a:srgbClr val="B8934A"/>
            </a:solidFill>
            <a:prstDash val="solid"/>
          </a:ln>
        </p:spPr>
      </p:sp>
      <p:pic>
        <p:nvPicPr>
          <p:cNvPr id="36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5389474"/>
            <a:ext cx="285293" cy="285293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508760" y="498348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Imprevistos em assembleia: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tema fora da pauta ou proposta diferente da analisada — a DF não vota em nome do Einstein. Abstém-se, pede ressalva em ata ou adiamento, e comunica o Einstein no mesmo dia. Temas críticos seguem o escalonamento por telefone.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 que chega ao Einstein todo mês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EXEMPLO ILUSTRATIVO — DADOS FICTÍCIOS</a:t>
            </a:r>
            <a:endParaRPr lang="en-US" sz="1100" dirty="0"/>
          </a:p>
        </p:txBody>
      </p:sp>
      <p:sp>
        <p:nvSpPr>
          <p:cNvPr id="4" name="mock-dashboard"/>
          <p:cNvSpPr/>
          <p:nvPr/>
        </p:nvSpPr>
        <p:spPr>
          <a:xfrm>
            <a:off x="548640" y="1417320"/>
            <a:ext cx="6949440" cy="4754880"/>
          </a:xfrm>
          <a:prstGeom prst="roundRect">
            <a:avLst>
              <a:gd name="adj" fmla="val 153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kpi-0"/>
          <p:cNvSpPr/>
          <p:nvPr/>
        </p:nvSpPr>
        <p:spPr>
          <a:xfrm>
            <a:off x="731520" y="1600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645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4162"/>
                </a:solidFill>
              </a:rPr>
              <a:t>+2,1%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Orçado × realizado</a:t>
            </a:r>
            <a:endParaRPr lang="en-US" sz="1050" dirty="0"/>
          </a:p>
        </p:txBody>
      </p:sp>
      <p:sp>
        <p:nvSpPr>
          <p:cNvPr id="8" name="kpi-1"/>
          <p:cNvSpPr/>
          <p:nvPr/>
        </p:nvSpPr>
        <p:spPr>
          <a:xfrm>
            <a:off x="2404872" y="1600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14600" y="1645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34A"/>
                </a:solidFill>
              </a:rPr>
              <a:t>3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51460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Contas acima de ±5%</a:t>
            </a:r>
            <a:endParaRPr lang="en-US" sz="1050" dirty="0"/>
          </a:p>
        </p:txBody>
      </p:sp>
      <p:sp>
        <p:nvSpPr>
          <p:cNvPr id="11" name="kpi-2"/>
          <p:cNvSpPr/>
          <p:nvPr/>
        </p:nvSpPr>
        <p:spPr>
          <a:xfrm>
            <a:off x="4078224" y="1600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87952" y="1645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4162"/>
                </a:solidFill>
              </a:rPr>
              <a:t>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187952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Pareceres no mês</a:t>
            </a:r>
            <a:endParaRPr lang="en-US" sz="1050" dirty="0"/>
          </a:p>
        </p:txBody>
      </p:sp>
      <p:sp>
        <p:nvSpPr>
          <p:cNvPr id="14" name="kpi-3"/>
          <p:cNvSpPr/>
          <p:nvPr/>
        </p:nvSpPr>
        <p:spPr>
          <a:xfrm>
            <a:off x="5751576" y="1600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861304" y="1645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5C"/>
                </a:solidFill>
              </a:rPr>
              <a:t>100%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5861304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Votos autorizados</a:t>
            </a:r>
            <a:endParaRPr lang="en-US" sz="10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731520" y="2697480"/>
          <a:ext cx="658368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7772400" y="1051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OS 6 ENTREGÁVEIS DA RFP — ACEITOS INTEGRALMENTE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14173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Relatório executivo mensal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17373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análise financeira, rateio e riscos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0652760" y="1417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D+30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2212848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Dashboard orçamentário e de rateio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7772400" y="2532888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em formato de relatório mensal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10652760" y="221284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D+90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3008376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Pareceres técnicos</a:t>
            </a:r>
            <a:endParaRPr lang="en-US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7772400" y="3328416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contratos, extraordinárias, reajustes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10652760" y="3008376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sob demanda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772400" y="3803904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Matriz de riscos e mitigação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7772400" y="4123944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atualização trimestral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652760" y="3803904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D+60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0" y="459943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Registro de assembleias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7772400" y="491947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deliberações e recomendações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652760" y="459943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5 dias úteis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7772400" y="53949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Plano de ação</a:t>
            </a:r>
            <a:endParaRPr lang="en-US" sz="1350" dirty="0"/>
          </a:p>
        </p:txBody>
      </p:sp>
      <p:sp>
        <p:nvSpPr>
          <p:cNvPr id="35" name="Text 32"/>
          <p:cNvSpPr txBox="1"/>
          <p:nvPr/>
        </p:nvSpPr>
        <p:spPr>
          <a:xfrm>
            <a:off x="7772400" y="5715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priorizado, acompanhado no relatório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10652760" y="53949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D+60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Plano de mobilização: 90 dias até a operação plena</a:t>
            </a:r>
            <a:endParaRPr lang="en-US" sz="3000" dirty="0"/>
          </a:p>
        </p:txBody>
      </p:sp>
      <p:sp>
        <p:nvSpPr>
          <p:cNvPr id="3" name="linha-tempo"/>
          <p:cNvSpPr/>
          <p:nvPr/>
        </p:nvSpPr>
        <p:spPr>
          <a:xfrm>
            <a:off x="822960" y="1874520"/>
            <a:ext cx="10607040" cy="0"/>
          </a:xfrm>
          <a:prstGeom prst="line">
            <a:avLst/>
          </a:prstGeom>
          <a:noFill/>
          <a:ln w="25400">
            <a:solidFill>
              <a:srgbClr val="CBD5E4"/>
            </a:solidFill>
            <a:prstDash val="solid"/>
          </a:ln>
        </p:spPr>
      </p:sp>
      <p:sp>
        <p:nvSpPr>
          <p:cNvPr id="4" name="marco-0"/>
          <p:cNvSpPr/>
          <p:nvPr/>
        </p:nvSpPr>
        <p:spPr>
          <a:xfrm>
            <a:off x="731520" y="1691640"/>
            <a:ext cx="365760" cy="365760"/>
          </a:xfrm>
          <a:prstGeom prst="ellipse">
            <a:avLst/>
          </a:prstGeom>
          <a:solidFill>
            <a:srgbClr val="2F416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143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Semana 1</a:t>
            </a:r>
            <a:endParaRPr lang="en-US" sz="1300" dirty="0"/>
          </a:p>
        </p:txBody>
      </p:sp>
      <p:sp>
        <p:nvSpPr>
          <p:cNvPr id="6" name="fase-mob-0"/>
          <p:cNvSpPr/>
          <p:nvPr/>
        </p:nvSpPr>
        <p:spPr>
          <a:xfrm>
            <a:off x="548640" y="2286000"/>
            <a:ext cx="2103120" cy="2971800"/>
          </a:xfrm>
          <a:prstGeom prst="roundRect">
            <a:avLst>
              <a:gd name="adj" fmla="val 34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423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Kick-off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88036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Interlocutores, canais, alçadas e temas que exigem autorização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2519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Ata + matriz de contatos e escalonamento</a:t>
            </a:r>
            <a:endParaRPr lang="en-US" sz="1200" dirty="0"/>
          </a:p>
        </p:txBody>
      </p:sp>
      <p:sp>
        <p:nvSpPr>
          <p:cNvPr id="10" name="marco-1"/>
          <p:cNvSpPr/>
          <p:nvPr/>
        </p:nvSpPr>
        <p:spPr>
          <a:xfrm>
            <a:off x="2971800" y="1691640"/>
            <a:ext cx="365760" cy="365760"/>
          </a:xfrm>
          <a:prstGeom prst="ellipse">
            <a:avLst/>
          </a:prstGeom>
          <a:solidFill>
            <a:srgbClr val="2F416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88920" y="1143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Semanas 1–2</a:t>
            </a:r>
            <a:endParaRPr lang="en-US" sz="1300" dirty="0"/>
          </a:p>
        </p:txBody>
      </p:sp>
      <p:sp>
        <p:nvSpPr>
          <p:cNvPr id="12" name="fase-mob-1"/>
          <p:cNvSpPr/>
          <p:nvPr/>
        </p:nvSpPr>
        <p:spPr>
          <a:xfrm>
            <a:off x="2788920" y="2286000"/>
            <a:ext cx="2103120" cy="2971800"/>
          </a:xfrm>
          <a:prstGeom prst="roundRect">
            <a:avLst>
              <a:gd name="adj" fmla="val 34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71800" y="2423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Apresentação e acessos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971800" y="288036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Apresentação à administradora, ao síndico geral e aos condôminos; pedido de documentos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2971800" y="42519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Lista de documentos solicitados × recebidos</a:t>
            </a:r>
            <a:endParaRPr lang="en-US" sz="1200" dirty="0"/>
          </a:p>
        </p:txBody>
      </p:sp>
      <p:sp>
        <p:nvSpPr>
          <p:cNvPr id="16" name="marco-2"/>
          <p:cNvSpPr/>
          <p:nvPr/>
        </p:nvSpPr>
        <p:spPr>
          <a:xfrm>
            <a:off x="5212080" y="1691640"/>
            <a:ext cx="365760" cy="365760"/>
          </a:xfrm>
          <a:prstGeom prst="ellipse">
            <a:avLst/>
          </a:prstGeom>
          <a:solidFill>
            <a:srgbClr val="2F416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29200" y="1143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Semanas 2–4</a:t>
            </a:r>
            <a:endParaRPr lang="en-US" sz="1300" dirty="0"/>
          </a:p>
        </p:txBody>
      </p:sp>
      <p:sp>
        <p:nvSpPr>
          <p:cNvPr id="18" name="fase-mob-2"/>
          <p:cNvSpPr/>
          <p:nvPr/>
        </p:nvSpPr>
        <p:spPr>
          <a:xfrm>
            <a:off x="5029200" y="2286000"/>
            <a:ext cx="2103120" cy="2971800"/>
          </a:xfrm>
          <a:prstGeom prst="roundRect">
            <a:avLst>
              <a:gd name="adj" fmla="val 34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2423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Imersão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288036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Primeira visita a cada unidade (titular + Diretor de Operações), entrevistas e leitura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212080" y="42519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1º relatório executivo (D+30)</a:t>
            </a:r>
            <a:endParaRPr lang="en-US" sz="1200" dirty="0"/>
          </a:p>
        </p:txBody>
      </p:sp>
      <p:sp>
        <p:nvSpPr>
          <p:cNvPr id="22" name="marco-3"/>
          <p:cNvSpPr/>
          <p:nvPr/>
        </p:nvSpPr>
        <p:spPr>
          <a:xfrm>
            <a:off x="7452360" y="1691640"/>
            <a:ext cx="365760" cy="365760"/>
          </a:xfrm>
          <a:prstGeom prst="ellipse">
            <a:avLst/>
          </a:prstGeom>
          <a:solidFill>
            <a:srgbClr val="2F416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269480" y="1143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Até D+60</a:t>
            </a:r>
            <a:endParaRPr lang="en-US" sz="1300" dirty="0"/>
          </a:p>
        </p:txBody>
      </p:sp>
      <p:sp>
        <p:nvSpPr>
          <p:cNvPr id="24" name="fase-mob-3"/>
          <p:cNvSpPr/>
          <p:nvPr/>
        </p:nvSpPr>
        <p:spPr>
          <a:xfrm>
            <a:off x="7269480" y="2286000"/>
            <a:ext cx="2103120" cy="2971800"/>
          </a:xfrm>
          <a:prstGeom prst="roundRect">
            <a:avLst>
              <a:gd name="adj" fmla="val 34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52360" y="2423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Diagnóstico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452360" y="288036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Matriz de critérios, diagnóstico do rateio, matriz de riscos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452360" y="42519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Relatório de diagnóstico + plano de ação</a:t>
            </a:r>
            <a:endParaRPr lang="en-US" sz="1200" dirty="0"/>
          </a:p>
        </p:txBody>
      </p:sp>
      <p:sp>
        <p:nvSpPr>
          <p:cNvPr id="28" name="marco-4"/>
          <p:cNvSpPr/>
          <p:nvPr/>
        </p:nvSpPr>
        <p:spPr>
          <a:xfrm>
            <a:off x="9692640" y="1691640"/>
            <a:ext cx="365760" cy="365760"/>
          </a:xfrm>
          <a:prstGeom prst="ellipse">
            <a:avLst/>
          </a:prstGeom>
          <a:solidFill>
            <a:srgbClr val="B893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509760" y="1143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D+90</a:t>
            </a:r>
            <a:endParaRPr lang="en-US" sz="1300" dirty="0"/>
          </a:p>
        </p:txBody>
      </p:sp>
      <p:sp>
        <p:nvSpPr>
          <p:cNvPr id="30" name="fase-mob-4"/>
          <p:cNvSpPr/>
          <p:nvPr/>
        </p:nvSpPr>
        <p:spPr>
          <a:xfrm>
            <a:off x="9509760" y="2286000"/>
            <a:ext cx="2103120" cy="2971800"/>
          </a:xfrm>
          <a:prstGeom prst="roundRect">
            <a:avLst>
              <a:gd name="adj" fmla="val 34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692640" y="2423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Operação plena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0" y="288036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Rotina mensal completa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9692640" y="42519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Dashboard em relatório mensal</a:t>
            </a:r>
            <a:endParaRPr lang="en-US" sz="1200" dirty="0"/>
          </a:p>
        </p:txBody>
      </p:sp>
      <p:sp>
        <p:nvSpPr>
          <p:cNvPr id="34" name="orcamento-2027"/>
          <p:cNvSpPr/>
          <p:nvPr/>
        </p:nvSpPr>
        <p:spPr>
          <a:xfrm>
            <a:off x="548640" y="548640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5513832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Previsão Orçamentária 2027: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ainda não tiver sido aprovada em assembleia no início do contrato, a DF a revisa com prioridade — primeiro resultado concreto para o Einstein.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Continuidade, segurança da informação e independência</a:t>
            </a:r>
            <a:endParaRPr lang="en-US" sz="3000" dirty="0"/>
          </a:p>
        </p:txBody>
      </p:sp>
      <p:sp>
        <p:nvSpPr>
          <p:cNvPr id="3" name="continuidade-0"/>
          <p:cNvSpPr/>
          <p:nvPr/>
        </p:nvSpPr>
        <p:spPr>
          <a:xfrm>
            <a:off x="548640" y="12801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icone-fundo"/>
          <p:cNvSpPr/>
          <p:nvPr/>
        </p:nvSpPr>
        <p:spPr>
          <a:xfrm>
            <a:off x="82296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68615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Titular + 2 substitutos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060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Substituição imediata em férias, afastamentos e emergências</a:t>
            </a:r>
            <a:endParaRPr lang="en-US" sz="1300" dirty="0"/>
          </a:p>
        </p:txBody>
      </p:sp>
      <p:sp>
        <p:nvSpPr>
          <p:cNvPr id="8" name="continuidade-1"/>
          <p:cNvSpPr/>
          <p:nvPr/>
        </p:nvSpPr>
        <p:spPr>
          <a:xfrm>
            <a:off x="4297680" y="12801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icone-fundo"/>
          <p:cNvSpPr/>
          <p:nvPr/>
        </p:nvSpPr>
        <p:spPr>
          <a:xfrm>
            <a:off x="457200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674" y="16861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Plantão 24x7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6060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Escalonamento telefônico para situações críticas, inclusive assembleias emergenciais</a:t>
            </a:r>
            <a:endParaRPr lang="en-US" sz="1300" dirty="0"/>
          </a:p>
        </p:txBody>
      </p:sp>
      <p:sp>
        <p:nvSpPr>
          <p:cNvPr id="13" name="continuidade-2"/>
          <p:cNvSpPr/>
          <p:nvPr/>
        </p:nvSpPr>
        <p:spPr>
          <a:xfrm>
            <a:off x="8046720" y="12801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icone-fundo"/>
          <p:cNvSpPr/>
          <p:nvPr/>
        </p:nvSpPr>
        <p:spPr>
          <a:xfrm>
            <a:off x="83210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2714" y="168615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Histórico centralizado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6060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Documentos, pareceres e decisões em repositório corporativo (OneDrive / Microsoft 365) com acesso restrito</a:t>
            </a:r>
            <a:endParaRPr lang="en-US" sz="1300" dirty="0"/>
          </a:p>
        </p:txBody>
      </p:sp>
      <p:sp>
        <p:nvSpPr>
          <p:cNvPr id="18" name="continuidade-3"/>
          <p:cNvSpPr/>
          <p:nvPr/>
        </p:nvSpPr>
        <p:spPr>
          <a:xfrm>
            <a:off x="548640" y="37947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icone-fundo"/>
          <p:cNvSpPr/>
          <p:nvPr/>
        </p:nvSpPr>
        <p:spPr>
          <a:xfrm>
            <a:off x="822960" y="4069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20075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22960" y="4754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LGPD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1206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Diretora de LGPD dedicada; documentos do Einstein só pelos canais autorizados; incidentes comunicados de imediato</a:t>
            </a:r>
            <a:endParaRPr lang="en-US" sz="1300" dirty="0"/>
          </a:p>
        </p:txBody>
      </p:sp>
      <p:sp>
        <p:nvSpPr>
          <p:cNvPr id="23" name="continuidade-4"/>
          <p:cNvSpPr/>
          <p:nvPr/>
        </p:nvSpPr>
        <p:spPr>
          <a:xfrm>
            <a:off x="4297680" y="37947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4" name="icone-fundo"/>
          <p:cNvSpPr/>
          <p:nvPr/>
        </p:nvSpPr>
        <p:spPr>
          <a:xfrm>
            <a:off x="4572000" y="4069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3674" y="420075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572000" y="4754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Seguro de RC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51206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Apólices de Responsabilidade Civil Profissional e Geral vigentes, sem custo ao Einstein</a:t>
            </a:r>
            <a:endParaRPr lang="en-US" sz="1300" dirty="0"/>
          </a:p>
        </p:txBody>
      </p:sp>
      <p:sp>
        <p:nvSpPr>
          <p:cNvPr id="28" name="continuidade-5"/>
          <p:cNvSpPr/>
          <p:nvPr/>
        </p:nvSpPr>
        <p:spPr>
          <a:xfrm>
            <a:off x="8046720" y="37947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9" name="icone-fundo"/>
          <p:cNvSpPr/>
          <p:nvPr/>
        </p:nvSpPr>
        <p:spPr>
          <a:xfrm>
            <a:off x="8321040" y="4069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2714" y="420075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321040" y="4754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Independência declarada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51206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Nenhum vínculo com condomínios, administradoras, proprietários ou gestores das unidades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Boletim Diário de Operações: a rotina de cada prédio, medida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Sistema próprio da DF: o checklist diário vira indicadores, alertas de SLA e relatório executivo</a:t>
            </a:r>
            <a:endParaRPr lang="en-US" sz="1500" dirty="0"/>
          </a:p>
        </p:txBody>
      </p:sp>
      <p:sp>
        <p:nvSpPr>
          <p:cNvPr id="4" name="celular"/>
          <p:cNvSpPr/>
          <p:nvPr/>
        </p:nvSpPr>
        <p:spPr>
          <a:xfrm>
            <a:off x="822960" y="1600200"/>
            <a:ext cx="2514600" cy="4572000"/>
          </a:xfrm>
          <a:prstGeom prst="roundRect">
            <a:avLst>
              <a:gd name="adj" fmla="val 10909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5" name="tela"/>
          <p:cNvSpPr/>
          <p:nvPr/>
        </p:nvSpPr>
        <p:spPr>
          <a:xfrm>
            <a:off x="960120" y="1828800"/>
            <a:ext cx="2240280" cy="411480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9385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Boletim de hoje</a:t>
            </a:r>
            <a:endParaRPr lang="en-US" sz="1200" dirty="0"/>
          </a:p>
        </p:txBody>
      </p:sp>
      <p:sp>
        <p:nvSpPr>
          <p:cNvPr id="7" name="item-check"/>
          <p:cNvSpPr/>
          <p:nvPr/>
        </p:nvSpPr>
        <p:spPr>
          <a:xfrm>
            <a:off x="1097280" y="2331720"/>
            <a:ext cx="1965960" cy="36576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8" name="statu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414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44752" y="2331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Geradores</a:t>
            </a:r>
            <a:endParaRPr lang="en-US" sz="1100" dirty="0"/>
          </a:p>
        </p:txBody>
      </p:sp>
      <p:sp>
        <p:nvSpPr>
          <p:cNvPr id="10" name="item-check"/>
          <p:cNvSpPr/>
          <p:nvPr/>
        </p:nvSpPr>
        <p:spPr>
          <a:xfrm>
            <a:off x="1097280" y="2788920"/>
            <a:ext cx="1965960" cy="36576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11" name="statu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871216"/>
            <a:ext cx="201168" cy="20116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44752" y="2788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Elevadores</a:t>
            </a:r>
            <a:endParaRPr lang="en-US" sz="1100" dirty="0"/>
          </a:p>
        </p:txBody>
      </p:sp>
      <p:sp>
        <p:nvSpPr>
          <p:cNvPr id="13" name="item-check"/>
          <p:cNvSpPr/>
          <p:nvPr/>
        </p:nvSpPr>
        <p:spPr>
          <a:xfrm>
            <a:off x="1097280" y="3246120"/>
            <a:ext cx="1965960" cy="36576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14" name="statu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328416"/>
            <a:ext cx="201168" cy="20116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3246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Reservatórios</a:t>
            </a:r>
            <a:endParaRPr lang="en-US" sz="1100" dirty="0"/>
          </a:p>
        </p:txBody>
      </p:sp>
      <p:sp>
        <p:nvSpPr>
          <p:cNvPr id="16" name="item-check"/>
          <p:cNvSpPr/>
          <p:nvPr/>
        </p:nvSpPr>
        <p:spPr>
          <a:xfrm>
            <a:off x="1097280" y="3703320"/>
            <a:ext cx="1965960" cy="36576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17" name="statu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3785616"/>
            <a:ext cx="201168" cy="20116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44752" y="3703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SDAI / incêndio</a:t>
            </a:r>
            <a:endParaRPr lang="en-US" sz="1100" dirty="0"/>
          </a:p>
        </p:txBody>
      </p:sp>
      <p:sp>
        <p:nvSpPr>
          <p:cNvPr id="19" name="item-check"/>
          <p:cNvSpPr/>
          <p:nvPr/>
        </p:nvSpPr>
        <p:spPr>
          <a:xfrm>
            <a:off x="1097280" y="4160520"/>
            <a:ext cx="1965960" cy="36576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20" name="status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0432" y="4242816"/>
            <a:ext cx="201168" cy="20116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444752" y="41605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Climatização</a:t>
            </a:r>
            <a:endParaRPr lang="en-US" sz="1100" dirty="0"/>
          </a:p>
        </p:txBody>
      </p:sp>
      <p:sp>
        <p:nvSpPr>
          <p:cNvPr id="22" name="item-check"/>
          <p:cNvSpPr/>
          <p:nvPr/>
        </p:nvSpPr>
        <p:spPr>
          <a:xfrm>
            <a:off x="1097280" y="4617720"/>
            <a:ext cx="1965960" cy="365760"/>
          </a:xfrm>
          <a:prstGeom prst="roundRect">
            <a:avLst>
              <a:gd name="adj" fmla="val 1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23" name="status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0432" y="4700016"/>
            <a:ext cx="201168" cy="201168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444752" y="4617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Limpeza e segurança</a:t>
            </a:r>
            <a:endParaRPr lang="en-US" sz="1100" dirty="0"/>
          </a:p>
        </p:txBody>
      </p:sp>
      <p:sp>
        <p:nvSpPr>
          <p:cNvPr id="25" name="botao"/>
          <p:cNvSpPr/>
          <p:nvPr/>
        </p:nvSpPr>
        <p:spPr>
          <a:xfrm>
            <a:off x="1097280" y="5166360"/>
            <a:ext cx="1965960" cy="411480"/>
          </a:xfrm>
          <a:prstGeom prst="roundRect">
            <a:avLst>
              <a:gd name="adj" fmla="val 17778"/>
            </a:avLst>
          </a:prstGeom>
          <a:solidFill>
            <a:srgbClr val="B8934A"/>
          </a:solidFill>
          <a:ln w="12700">
            <a:solidFill>
              <a:srgbClr val="B8934A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1097280" y="51663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Enviar boletim</a:t>
            </a:r>
            <a:endParaRPr lang="en-US" sz="1150" dirty="0"/>
          </a:p>
        </p:txBody>
      </p:sp>
      <p:sp>
        <p:nvSpPr>
          <p:cNvPr id="27" name="Text 19"/>
          <p:cNvSpPr txBox="1"/>
          <p:nvPr/>
        </p:nvSpPr>
        <p:spPr>
          <a:xfrm>
            <a:off x="822960" y="619963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3"/>
                </a:solidFill>
              </a:rPr>
              <a:t>Ilustração</a:t>
            </a:r>
            <a:endParaRPr lang="en-US" sz="900" dirty="0"/>
          </a:p>
        </p:txBody>
      </p:sp>
      <p:sp>
        <p:nvSpPr>
          <p:cNvPr id="28" name="boletim-0"/>
          <p:cNvSpPr/>
          <p:nvPr/>
        </p:nvSpPr>
        <p:spPr>
          <a:xfrm>
            <a:off x="3794760" y="1600200"/>
            <a:ext cx="3749040" cy="1691640"/>
          </a:xfrm>
          <a:prstGeom prst="roundRect">
            <a:avLst>
              <a:gd name="adj" fmla="val 432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9" name="icone-fundo"/>
          <p:cNvSpPr/>
          <p:nvPr/>
        </p:nvSpPr>
        <p:spPr>
          <a:xfrm>
            <a:off x="4023360" y="1828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4061" y="1949501"/>
            <a:ext cx="261518" cy="26151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466344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Checklist no celular</a:t>
            </a:r>
            <a:endParaRPr lang="en-US" sz="1500" dirty="0"/>
          </a:p>
        </p:txBody>
      </p:sp>
      <p:sp>
        <p:nvSpPr>
          <p:cNvPr id="32" name="Text 23"/>
          <p:cNvSpPr txBox="1"/>
          <p:nvPr/>
        </p:nvSpPr>
        <p:spPr>
          <a:xfrm>
            <a:off x="4663440" y="2221992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 gerente predial registra sistemas, ocorrências e pendências em etapas — substitui WhatsApp e planilhas</a:t>
            </a:r>
            <a:endParaRPr lang="en-US" sz="1250" dirty="0"/>
          </a:p>
        </p:txBody>
      </p:sp>
      <p:sp>
        <p:nvSpPr>
          <p:cNvPr id="33" name="boletim-1"/>
          <p:cNvSpPr/>
          <p:nvPr/>
        </p:nvSpPr>
        <p:spPr>
          <a:xfrm>
            <a:off x="7726680" y="1600200"/>
            <a:ext cx="3749040" cy="1691640"/>
          </a:xfrm>
          <a:prstGeom prst="roundRect">
            <a:avLst>
              <a:gd name="adj" fmla="val 432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4" name="icone-fundo"/>
          <p:cNvSpPr/>
          <p:nvPr/>
        </p:nvSpPr>
        <p:spPr>
          <a:xfrm>
            <a:off x="7955280" y="1828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5" name="i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75981" y="1949501"/>
            <a:ext cx="261518" cy="26151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859536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Painel e indicadores</a:t>
            </a:r>
            <a:endParaRPr lang="en-US" sz="1500" dirty="0"/>
          </a:p>
        </p:txBody>
      </p:sp>
      <p:sp>
        <p:nvSpPr>
          <p:cNvPr id="37" name="Text 27"/>
          <p:cNvSpPr txBox="1"/>
          <p:nvPr/>
        </p:nvSpPr>
        <p:spPr>
          <a:xfrm>
            <a:off x="8595360" y="2221992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Visão de vários condomínios com KPIs, gráficos e matriz de risco de SLA</a:t>
            </a:r>
            <a:endParaRPr lang="en-US" sz="1250" dirty="0"/>
          </a:p>
        </p:txBody>
      </p:sp>
      <p:sp>
        <p:nvSpPr>
          <p:cNvPr id="38" name="boletim-2"/>
          <p:cNvSpPr/>
          <p:nvPr/>
        </p:nvSpPr>
        <p:spPr>
          <a:xfrm>
            <a:off x="3794760" y="3474720"/>
            <a:ext cx="3749040" cy="1691640"/>
          </a:xfrm>
          <a:prstGeom prst="roundRect">
            <a:avLst>
              <a:gd name="adj" fmla="val 432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9" name="icone-fundo"/>
          <p:cNvSpPr/>
          <p:nvPr/>
        </p:nvSpPr>
        <p:spPr>
          <a:xfrm>
            <a:off x="4023360" y="37033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0" name="i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44061" y="3824021"/>
            <a:ext cx="261518" cy="261518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4663440" y="3703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Ocorrências e planos</a:t>
            </a:r>
            <a:endParaRPr lang="en-US" sz="1500" dirty="0"/>
          </a:p>
        </p:txBody>
      </p:sp>
      <p:sp>
        <p:nvSpPr>
          <p:cNvPr id="42" name="Text 31"/>
          <p:cNvSpPr txBox="1"/>
          <p:nvPr/>
        </p:nvSpPr>
        <p:spPr>
          <a:xfrm>
            <a:off x="4663440" y="4096512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Cada ocorrência registrada vira acompanhamento até o encerramento</a:t>
            </a:r>
            <a:endParaRPr lang="en-US" sz="1250" dirty="0"/>
          </a:p>
        </p:txBody>
      </p:sp>
      <p:sp>
        <p:nvSpPr>
          <p:cNvPr id="43" name="boletim-3"/>
          <p:cNvSpPr/>
          <p:nvPr/>
        </p:nvSpPr>
        <p:spPr>
          <a:xfrm>
            <a:off x="7726680" y="3474720"/>
            <a:ext cx="3749040" cy="1691640"/>
          </a:xfrm>
          <a:prstGeom prst="roundRect">
            <a:avLst>
              <a:gd name="adj" fmla="val 432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4" name="icone-fundo"/>
          <p:cNvSpPr/>
          <p:nvPr/>
        </p:nvSpPr>
        <p:spPr>
          <a:xfrm>
            <a:off x="7955280" y="37033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5" name="icone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75981" y="3824021"/>
            <a:ext cx="261518" cy="261518"/>
          </a:xfrm>
          <a:prstGeom prst="rect">
            <a:avLst/>
          </a:prstGeom>
        </p:spPr>
      </p:pic>
      <p:sp>
        <p:nvSpPr>
          <p:cNvPr id="46" name="Text 34"/>
          <p:cNvSpPr txBox="1"/>
          <p:nvPr/>
        </p:nvSpPr>
        <p:spPr>
          <a:xfrm>
            <a:off x="8595360" y="3703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Relatório executivo</a:t>
            </a:r>
            <a:endParaRPr lang="en-US" sz="1500" dirty="0"/>
          </a:p>
        </p:txBody>
      </p:sp>
      <p:sp>
        <p:nvSpPr>
          <p:cNvPr id="47" name="Text 35"/>
          <p:cNvSpPr txBox="1"/>
          <p:nvPr/>
        </p:nvSpPr>
        <p:spPr>
          <a:xfrm>
            <a:off x="8595360" y="4096512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Resumo gerencial gerado a partir dos dados do período; resumo pronto para os grupos de WhatsApp</a:t>
            </a:r>
            <a:endParaRPr lang="en-US" sz="1250" dirty="0"/>
          </a:p>
        </p:txBody>
      </p:sp>
      <p:sp>
        <p:nvSpPr>
          <p:cNvPr id="48" name="beneficio-boletim"/>
          <p:cNvSpPr/>
          <p:nvPr/>
        </p:nvSpPr>
        <p:spPr>
          <a:xfrm>
            <a:off x="3794760" y="5394960"/>
            <a:ext cx="7680960" cy="777240"/>
          </a:xfrm>
          <a:prstGeom prst="roundRect">
            <a:avLst>
              <a:gd name="adj" fmla="val 9412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49" name="Text 37"/>
          <p:cNvSpPr txBox="1"/>
          <p:nvPr/>
        </p:nvSpPr>
        <p:spPr>
          <a:xfrm>
            <a:off x="4023360" y="54406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34A"/>
                </a:solidFill>
              </a:rPr>
              <a:t>Para o Einstein: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 DF chega às assembleias e às reuniões mensais com dados da operação, não com impressões.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Rotinas automáticas: nenhum prazo esquecido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Automações próprias que rodam todos os dias e todas as semanas, sem depender da memória de ninguém</a:t>
            </a:r>
            <a:endParaRPr lang="en-US" sz="1500" dirty="0"/>
          </a:p>
        </p:txBody>
      </p:sp>
      <p:sp>
        <p:nvSpPr>
          <p:cNvPr id="4" name="rotina-0"/>
          <p:cNvSpPr/>
          <p:nvPr/>
        </p:nvSpPr>
        <p:spPr>
          <a:xfrm>
            <a:off x="548640" y="1600200"/>
            <a:ext cx="5394960" cy="3429000"/>
          </a:xfrm>
          <a:prstGeom prst="roundRect">
            <a:avLst>
              <a:gd name="adj" fmla="val 21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icone-fund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028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Triagem diária de demandas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2585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Todo dia, 7h30</a:t>
            </a:r>
            <a:endParaRPr lang="en-US" sz="1300" dirty="0"/>
          </a:p>
        </p:txBody>
      </p:sp>
      <p:sp>
        <p:nvSpPr>
          <p:cNvPr id="9" name="passo"/>
          <p:cNvSpPr/>
          <p:nvPr/>
        </p:nvSpPr>
        <p:spPr>
          <a:xfrm>
            <a:off x="868680" y="2834640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F416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868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27889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Lê a caixa de e-mail e identifica pedidos e prazos do cliente</a:t>
            </a:r>
            <a:endParaRPr lang="en-US" sz="1350" dirty="0"/>
          </a:p>
        </p:txBody>
      </p:sp>
      <p:sp>
        <p:nvSpPr>
          <p:cNvPr id="12" name="passo"/>
          <p:cNvSpPr/>
          <p:nvPr/>
        </p:nvSpPr>
        <p:spPr>
          <a:xfrm>
            <a:off x="868680" y="3474720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F416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6868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417320" y="34290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Atualiza o quadro de acompanhamento das demandas</a:t>
            </a:r>
            <a:endParaRPr lang="en-US" sz="1350" dirty="0"/>
          </a:p>
        </p:txBody>
      </p:sp>
      <p:sp>
        <p:nvSpPr>
          <p:cNvPr id="15" name="passo"/>
          <p:cNvSpPr/>
          <p:nvPr/>
        </p:nvSpPr>
        <p:spPr>
          <a:xfrm>
            <a:off x="868680" y="4114800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F416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868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417320" y="40690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Envia o resumo do dia com tudo o que está em aberto</a:t>
            </a:r>
            <a:endParaRPr lang="en-US" sz="1350" dirty="0"/>
          </a:p>
        </p:txBody>
      </p:sp>
      <p:sp>
        <p:nvSpPr>
          <p:cNvPr id="18" name="rotina-1"/>
          <p:cNvSpPr/>
          <p:nvPr/>
        </p:nvSpPr>
        <p:spPr>
          <a:xfrm>
            <a:off x="6172200" y="1600200"/>
            <a:ext cx="5394960" cy="3429000"/>
          </a:xfrm>
          <a:prstGeom prst="roundRect">
            <a:avLst>
              <a:gd name="adj" fmla="val 21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icone-fundo"/>
          <p:cNvSpPr/>
          <p:nvPr/>
        </p:nvSpPr>
        <p:spPr>
          <a:xfrm>
            <a:off x="6446520" y="18745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139" y="2028139"/>
            <a:ext cx="332842" cy="33284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269480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Cobrança de documentação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7269480" y="22585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Toda segunda-feira</a:t>
            </a:r>
            <a:endParaRPr lang="en-US" sz="1300" dirty="0"/>
          </a:p>
        </p:txBody>
      </p:sp>
      <p:sp>
        <p:nvSpPr>
          <p:cNvPr id="23" name="passo"/>
          <p:cNvSpPr/>
          <p:nvPr/>
        </p:nvSpPr>
        <p:spPr>
          <a:xfrm>
            <a:off x="6492240" y="2834640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F416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9224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7040880" y="27889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Lê os relatórios de documentos a vencer e vencidos</a:t>
            </a:r>
            <a:endParaRPr lang="en-US" sz="1350" dirty="0"/>
          </a:p>
        </p:txBody>
      </p:sp>
      <p:sp>
        <p:nvSpPr>
          <p:cNvPr id="26" name="passo"/>
          <p:cNvSpPr/>
          <p:nvPr/>
        </p:nvSpPr>
        <p:spPr>
          <a:xfrm>
            <a:off x="6492240" y="3474720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F4162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49224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7040880" y="34290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Separa por condomínio e envia uma cobrança para cada um</a:t>
            </a:r>
            <a:endParaRPr lang="en-US" sz="1350" dirty="0"/>
          </a:p>
        </p:txBody>
      </p:sp>
      <p:sp>
        <p:nvSpPr>
          <p:cNvPr id="29" name="passo"/>
          <p:cNvSpPr/>
          <p:nvPr/>
        </p:nvSpPr>
        <p:spPr>
          <a:xfrm>
            <a:off x="6492240" y="4114800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F4162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9224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7040880" y="40690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Só envia a destinatários confirmados — na dúvida, não envia</a:t>
            </a:r>
            <a:endParaRPr lang="en-US" sz="1350" dirty="0"/>
          </a:p>
        </p:txBody>
      </p:sp>
      <p:sp>
        <p:nvSpPr>
          <p:cNvPr id="32" name="beneficio-rotinas"/>
          <p:cNvSpPr/>
          <p:nvPr/>
        </p:nvSpPr>
        <p:spPr>
          <a:xfrm>
            <a:off x="548640" y="544068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777240" y="54864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34A"/>
                </a:solidFill>
              </a:rPr>
              <a:t>Para o Einstein: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cada demanda do Einstein entra na triagem no mesmo dia — é o que sustenta os SLAs que propusemos.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Relatórios técnicos que sustentam decisões</a:t>
            </a:r>
            <a:endParaRPr lang="en-US" sz="3000" dirty="0"/>
          </a:p>
        </p:txBody>
      </p:sp>
      <p:sp>
        <p:nvSpPr>
          <p:cNvPr id="3" name="subtitulo"/>
          <p:cNvSpPr txBox="1"/>
          <p:nvPr/>
        </p:nvSpPr>
        <p:spPr>
          <a:xfrm>
            <a:off x="548640" y="1024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O padrão de análise que o Einstein recebe numa ocorrência crítica ou numa revisão de contrato</a:t>
            </a:r>
            <a:endParaRPr lang="en-US" sz="1500" dirty="0"/>
          </a:p>
        </p:txBody>
      </p:sp>
      <p:sp>
        <p:nvSpPr>
          <p:cNvPr id="4" name="relatorio-0"/>
          <p:cNvSpPr/>
          <p:nvPr/>
        </p:nvSpPr>
        <p:spPr>
          <a:xfrm>
            <a:off x="548640" y="1600200"/>
            <a:ext cx="5394960" cy="3657600"/>
          </a:xfrm>
          <a:prstGeom prst="roundRect">
            <a:avLst>
              <a:gd name="adj" fmla="val 2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icone-fund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028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85623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Relatório de apuração de incidente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chemeClr val="accent3"/>
                </a:solidFill>
              </a:rPr>
              <a:t>Edifício AAA de uso misto — vazamento no sistema de geradores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9260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Análise técnica e jurídica dos relatórios de cinco prestadores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Cronologia completa do evento, com vistorias da DF no local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Análise da cobertura das apólices de seguro de cada prestador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Responsabilidades e plano de ação com responsáveis e prazos</a:t>
            </a:r>
            <a:endParaRPr lang="en-US" sz="1400" dirty="0"/>
          </a:p>
        </p:txBody>
      </p:sp>
      <p:sp>
        <p:nvSpPr>
          <p:cNvPr id="10" name="relatorio-1"/>
          <p:cNvSpPr/>
          <p:nvPr/>
        </p:nvSpPr>
        <p:spPr>
          <a:xfrm>
            <a:off x="6172200" y="1600200"/>
            <a:ext cx="5394960" cy="3657600"/>
          </a:xfrm>
          <a:prstGeom prst="roundRect">
            <a:avLst>
              <a:gd name="adj" fmla="val 2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icone-fundo"/>
          <p:cNvSpPr/>
          <p:nvPr/>
        </p:nvSpPr>
        <p:spPr>
          <a:xfrm>
            <a:off x="6446520" y="18745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139" y="2028139"/>
            <a:ext cx="332842" cy="33284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269480" y="185623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Auditoria e conciliação financeira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726948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chemeClr val="accent3"/>
                </a:solidFill>
              </a:rPr>
              <a:t>Complexo multiuso com subsetores — contrato de administração predial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6492240" y="29260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Apuração de questionamentos de condôminos sobre pagamentos à administradora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39 notas fiscais de 20 meses conciliadas com os comprovantes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Confronto entre proposta, ata de assembleia, contrato e aditivos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Rateio entre subsetores e erro material de contrato identificados, com conclusão documentada</a:t>
            </a:r>
            <a:endParaRPr lang="en-US" sz="1400" dirty="0"/>
          </a:p>
        </p:txBody>
      </p:sp>
      <p:sp>
        <p:nvSpPr>
          <p:cNvPr id="16" name="beneficio-relatorios"/>
          <p:cNvSpPr/>
          <p:nvPr/>
        </p:nvSpPr>
        <p:spPr>
          <a:xfrm>
            <a:off x="548640" y="544068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77240" y="54864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34A"/>
                </a:solidFill>
              </a:rPr>
              <a:t>Sigilo: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apresentamos o método, não o cliente — o mesmo cuidado que teremos com as informações do Einstein.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Escopo claro, sem surpresas na fatura</a:t>
            </a:r>
            <a:endParaRPr lang="en-US" sz="3000" dirty="0"/>
          </a:p>
        </p:txBody>
      </p:sp>
      <p:sp>
        <p:nvSpPr>
          <p:cNvPr id="3" name="escopo-0"/>
          <p:cNvSpPr/>
          <p:nvPr/>
        </p:nvSpPr>
        <p:spPr>
          <a:xfrm>
            <a:off x="548640" y="1234440"/>
            <a:ext cx="3520440" cy="4937760"/>
          </a:xfrm>
          <a:prstGeom prst="roundRect">
            <a:avLst>
              <a:gd name="adj" fmla="val 2078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Incluído na mensalidade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30175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Titular, substitutos e retaguarda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Visitas presenciais e técnicas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Deslocamento, estacionamento e alimentação na Grande SP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Assembleias ordinárias e extraordinárias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Plantão 24x7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Relatórios, dashboard, matriz de riscos e plano de ação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Pareceres da equipe DF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Seguro de RC e tributos</a:t>
            </a:r>
            <a:endParaRPr lang="en-US" sz="1350" dirty="0"/>
          </a:p>
        </p:txBody>
      </p:sp>
      <p:sp>
        <p:nvSpPr>
          <p:cNvPr id="6" name="escopo-1"/>
          <p:cNvSpPr/>
          <p:nvPr/>
        </p:nvSpPr>
        <p:spPr>
          <a:xfrm>
            <a:off x="4297680" y="1234440"/>
            <a:ext cx="3520440" cy="4937760"/>
          </a:xfrm>
          <a:prstGeom prst="roundRect">
            <a:avLst>
              <a:gd name="adj" fmla="val 2078"/>
            </a:avLst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0" y="1463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37"/>
                </a:solidFill>
              </a:rPr>
              <a:t>Só com autorização prévia do Einstein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194560"/>
            <a:ext cx="30175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Laudos, perícias e ensaios de terceiros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Escritórios externos e processos judiciais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Auditoria contábil independente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Custas cartoriais e registros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Viagens fora da Grande SP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Orçados à parte; não alteram a mensalidade</a:t>
            </a:r>
            <a:endParaRPr lang="en-US" sz="1350" dirty="0"/>
          </a:p>
        </p:txBody>
      </p:sp>
      <p:sp>
        <p:nvSpPr>
          <p:cNvPr id="9" name="escopo-2"/>
          <p:cNvSpPr/>
          <p:nvPr/>
        </p:nvSpPr>
        <p:spPr>
          <a:xfrm>
            <a:off x="8046720" y="1234440"/>
            <a:ext cx="3520440" cy="4937760"/>
          </a:xfrm>
          <a:prstGeom prst="roundRect">
            <a:avLst>
              <a:gd name="adj" fmla="val 2078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463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37"/>
                </a:solidFill>
              </a:rPr>
              <a:t>Papel da administradora — não da DF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194560"/>
            <a:ext cx="30175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Equipe residente e operação diária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Contas a pagar e a receber, boletos e cobrança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Elaboração de balancetes e prestação de contas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Compras, estoque e arquivo físico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</a:rPr>
              <a:t>A DF analisa, valida e fiscaliza esses processos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Por que a DF</a:t>
            </a:r>
            <a:endParaRPr lang="en-US" sz="3000" dirty="0"/>
          </a:p>
        </p:txBody>
      </p:sp>
      <p:sp>
        <p:nvSpPr>
          <p:cNvPr id="3" name="porque-0"/>
          <p:cNvSpPr/>
          <p:nvPr/>
        </p:nvSpPr>
        <p:spPr>
          <a:xfrm>
            <a:off x="548640" y="128016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sp>
        <p:nvSpPr>
          <p:cNvPr id="4" name="icone-fundo"/>
          <p:cNvSpPr/>
          <p:nvPr/>
        </p:nvSpPr>
        <p:spPr>
          <a:xfrm>
            <a:off x="868680" y="1783080"/>
            <a:ext cx="685800" cy="685800"/>
          </a:xfrm>
          <a:prstGeom prst="ellipse">
            <a:avLst/>
          </a:prstGeom>
          <a:solidFill>
            <a:srgbClr val="B8934A"/>
          </a:solidFill>
          <a:ln w="12700">
            <a:solidFill>
              <a:srgbClr val="B8934A"/>
            </a:solidFill>
            <a:prstDash val="solid"/>
          </a:ln>
        </p:spPr>
      </p:sp>
      <p:pic>
        <p:nvPicPr>
          <p:cNvPr id="5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4767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7830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Independência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33172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Não somos administradora: fiscalizamos quem executa, em nome do Einstein</a:t>
            </a:r>
            <a:endParaRPr lang="en-US" sz="1600" dirty="0"/>
          </a:p>
        </p:txBody>
      </p:sp>
      <p:sp>
        <p:nvSpPr>
          <p:cNvPr id="8" name="porque-1"/>
          <p:cNvSpPr/>
          <p:nvPr/>
        </p:nvSpPr>
        <p:spPr>
          <a:xfrm>
            <a:off x="6172200" y="128016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icone-fundo"/>
          <p:cNvSpPr/>
          <p:nvPr/>
        </p:nvSpPr>
        <p:spPr>
          <a:xfrm>
            <a:off x="6492240" y="1783080"/>
            <a:ext cx="685800" cy="685800"/>
          </a:xfrm>
          <a:prstGeom prst="ellipse">
            <a:avLst/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pic>
        <p:nvPicPr>
          <p:cNvPr id="10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832" y="194767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17830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F4162"/>
                </a:solidFill>
              </a:rPr>
              <a:t>Rateio é o nosso forte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7406640" y="233172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</a:rPr>
              <a:t>Casos reais de subsídio cruzado corrigidos — inclusive por deliberação de assembleia</a:t>
            </a:r>
            <a:endParaRPr lang="en-US" sz="1600" dirty="0"/>
          </a:p>
        </p:txBody>
      </p:sp>
      <p:sp>
        <p:nvSpPr>
          <p:cNvPr id="13" name="porque-2"/>
          <p:cNvSpPr/>
          <p:nvPr/>
        </p:nvSpPr>
        <p:spPr>
          <a:xfrm>
            <a:off x="548640" y="379476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icone-fundo"/>
          <p:cNvSpPr/>
          <p:nvPr/>
        </p:nvSpPr>
        <p:spPr>
          <a:xfrm>
            <a:off x="868680" y="4297680"/>
            <a:ext cx="685800" cy="685800"/>
          </a:xfrm>
          <a:prstGeom prst="ellipse">
            <a:avLst/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pic>
        <p:nvPicPr>
          <p:cNvPr id="15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4462272"/>
            <a:ext cx="356616" cy="35661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83080" y="42976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F4162"/>
                </a:solidFill>
              </a:rPr>
              <a:t>Hospital em condomínio multiuso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1783080" y="484632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</a:rPr>
              <a:t>Fazemos isso hoje no O Parque, com implantação em andamento</a:t>
            </a:r>
            <a:endParaRPr lang="en-US" sz="1600" dirty="0"/>
          </a:p>
        </p:txBody>
      </p:sp>
      <p:sp>
        <p:nvSpPr>
          <p:cNvPr id="18" name="porque-3"/>
          <p:cNvSpPr/>
          <p:nvPr/>
        </p:nvSpPr>
        <p:spPr>
          <a:xfrm>
            <a:off x="6172200" y="379476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icone-fundo"/>
          <p:cNvSpPr/>
          <p:nvPr/>
        </p:nvSpPr>
        <p:spPr>
          <a:xfrm>
            <a:off x="6492240" y="4297680"/>
            <a:ext cx="685800" cy="685800"/>
          </a:xfrm>
          <a:prstGeom prst="ellipse">
            <a:avLst/>
          </a:prstGeom>
          <a:solidFill>
            <a:srgbClr val="2F4162"/>
          </a:solidFill>
          <a:ln w="12700">
            <a:solidFill>
              <a:srgbClr val="2F4162"/>
            </a:solidFill>
            <a:prstDash val="solid"/>
          </a:ln>
        </p:spPr>
      </p:sp>
      <p:pic>
        <p:nvPicPr>
          <p:cNvPr id="20" name="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6832" y="4462272"/>
            <a:ext cx="356616" cy="35661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42976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F4162"/>
                </a:solidFill>
              </a:rPr>
              <a:t>Governança à prova de risco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484632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7"/>
                </a:solidFill>
              </a:rPr>
              <a:t>Nenhum voto sem autorização escrita; SLAs iguais ou melhores que a referência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Obrigado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017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4"/>
                </a:solidFill>
              </a:rPr>
              <a:t>Estamos à disposição para as dúvidas do Einstein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6583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8934A"/>
                </a:solidFill>
              </a:rPr>
              <a:t>PRÓXIMOS PASSOS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Formalizamos por escrito os ajustes de SLA apresentados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Enviamos o relatório executivo da apresentação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Kick-off em até 5 dias úteis após a contratação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589520" y="393192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Denise Ferreira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</a:rPr>
              <a:t>denise@dfsindicos.com.br · +55 11 97322-5115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Caio Gavioli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</a:rPr>
              <a:t>caio@dfsindicos.com.br · +55 11 98323-1173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B8934A"/>
                </a:solidFill>
              </a:rPr>
              <a:t>www.dfsindicos.com.br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Apoio: critérios de criticidade do Einstein</a:t>
            </a:r>
            <a:endParaRPr lang="en-US" sz="3000" dirty="0"/>
          </a:p>
        </p:txBody>
      </p:sp>
      <p:graphicFrame>
        <p:nvGraphicFramePr>
          <p:cNvPr id="23" name="tabela-criticidad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109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035040"/>
                <a:gridCol w="3611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Nível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(e-mail do Einstein, 30/09)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a DF atende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16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à continuidade da operação, segurança de pessoas, compliance, imagem ou exposição financeira relevante; deliberações que exigem posicionamento imediato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Telefonema 24x7 · 30 min · plano de ação em 4 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definido para análise ou manifestação: assembleias, aprovações extraordinárias, contratos, notificações, demandas regulatórias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Telefonema · 2 h úteis · 1 dia útil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Ordinária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de acompanhamento financeiro, contratual, operacional e de governança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E-mail / canal oficial · 1 dia útil · 5 dias úteis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41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Análises aprofundadas, múltiplos stakeholders, estudos financeiros, jurídicos ou de engenharia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dia útil com prazo proposto · até 10 dias úteis (prévia em 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Apoio: insumos que a DF precisa do Einstein no início</a:t>
            </a:r>
            <a:endParaRPr lang="en-US" sz="3000" dirty="0"/>
          </a:p>
        </p:txBody>
      </p:sp>
      <p:sp>
        <p:nvSpPr>
          <p:cNvPr id="3" name="insumo-0"/>
          <p:cNvSpPr/>
          <p:nvPr/>
        </p:nvSpPr>
        <p:spPr>
          <a:xfrm>
            <a:off x="548640" y="128016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icone-fundo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8233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508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Ata de eleição e procurações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90195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Para a DF representar o Einstein formalmente em cada unidade</a:t>
            </a:r>
            <a:endParaRPr lang="en-US" sz="1300" dirty="0"/>
          </a:p>
        </p:txBody>
      </p:sp>
      <p:sp>
        <p:nvSpPr>
          <p:cNvPr id="8" name="insumo-1"/>
          <p:cNvSpPr/>
          <p:nvPr/>
        </p:nvSpPr>
        <p:spPr>
          <a:xfrm>
            <a:off x="6172200" y="128016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icone-fundo"/>
          <p:cNvSpPr/>
          <p:nvPr/>
        </p:nvSpPr>
        <p:spPr>
          <a:xfrm>
            <a:off x="6446520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194" y="18233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508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Convenção, especificação e regimento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190195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Base de todos os critérios de rateio</a:t>
            </a:r>
            <a:endParaRPr lang="en-US" sz="1300" dirty="0"/>
          </a:p>
        </p:txBody>
      </p:sp>
      <p:sp>
        <p:nvSpPr>
          <p:cNvPr id="13" name="insumo-2"/>
          <p:cNvSpPr/>
          <p:nvPr/>
        </p:nvSpPr>
        <p:spPr>
          <a:xfrm>
            <a:off x="548640" y="292608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icone-fundo"/>
          <p:cNvSpPr/>
          <p:nvPr/>
        </p:nvSpPr>
        <p:spPr>
          <a:xfrm>
            <a:off x="822960" y="33375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634" y="346923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Contratos vigentes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600200" y="354787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Para validar critérios de rateio e mapear fornecedores (verificação de independência)</a:t>
            </a:r>
            <a:endParaRPr lang="en-US" sz="1300" dirty="0"/>
          </a:p>
        </p:txBody>
      </p:sp>
      <p:sp>
        <p:nvSpPr>
          <p:cNvPr id="18" name="insumo-3"/>
          <p:cNvSpPr/>
          <p:nvPr/>
        </p:nvSpPr>
        <p:spPr>
          <a:xfrm>
            <a:off x="6172200" y="292608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icone-fundo"/>
          <p:cNvSpPr/>
          <p:nvPr/>
        </p:nvSpPr>
        <p:spPr>
          <a:xfrm>
            <a:off x="6446520" y="33375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8194" y="346923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2376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Pastas de prestação de contas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223760" y="354787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Últimos 12 meses, para o diagnóstico</a:t>
            </a:r>
            <a:endParaRPr lang="en-US" sz="1300" dirty="0"/>
          </a:p>
        </p:txBody>
      </p:sp>
      <p:sp>
        <p:nvSpPr>
          <p:cNvPr id="23" name="insumo-4"/>
          <p:cNvSpPr/>
          <p:nvPr/>
        </p:nvSpPr>
        <p:spPr>
          <a:xfrm>
            <a:off x="548640" y="45720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4" name="icone-fundo"/>
          <p:cNvSpPr/>
          <p:nvPr/>
        </p:nvSpPr>
        <p:spPr>
          <a:xfrm>
            <a:off x="822960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511515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00200" y="4800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Contatos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1600200" y="519379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Administradora, síndico geral e representantes designados pelo Einstein</a:t>
            </a:r>
            <a:endParaRPr lang="en-US" sz="1300" dirty="0"/>
          </a:p>
        </p:txBody>
      </p:sp>
      <p:sp>
        <p:nvSpPr>
          <p:cNvPr id="28" name="insumo-5"/>
          <p:cNvSpPr/>
          <p:nvPr/>
        </p:nvSpPr>
        <p:spPr>
          <a:xfrm>
            <a:off x="6172200" y="45720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9" name="icone-fundo"/>
          <p:cNvSpPr/>
          <p:nvPr/>
        </p:nvSpPr>
        <p:spPr>
          <a:xfrm>
            <a:off x="6446520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8194" y="511515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223760" y="4800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Alçadas internas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7223760" y="519379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Quem autoriza cada tipo de voto e posicionamento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F Síndicos">
  <a:themeElements>
    <a:clrScheme name="DF Síndicos">
      <a:dk1>
        <a:srgbClr val="1F2A37"/>
      </a:dk1>
      <a:lt1>
        <a:srgbClr val="FFFFFF"/>
      </a:lt1>
      <a:dk2>
        <a:srgbClr val="2F4162"/>
      </a:dk2>
      <a:lt2>
        <a:srgbClr val="F3F4F6"/>
      </a:lt2>
      <a:accent1>
        <a:srgbClr val="2F4162"/>
      </a:accent1>
      <a:accent2>
        <a:srgbClr val="B8934A"/>
      </a:accent2>
      <a:accent3>
        <a:srgbClr val="5B6470"/>
      </a:accent3>
      <a:accent4>
        <a:srgbClr val="7E93B8"/>
      </a:accent4>
      <a:accent5>
        <a:srgbClr val="CBD5E4"/>
      </a:accent5>
      <a:accent6>
        <a:srgbClr val="2E7D5C"/>
      </a:accent6>
      <a:hlink>
        <a:srgbClr val="2F4162"/>
      </a:hlink>
      <a:folHlink>
        <a:srgbClr val="5B6470"/>
      </a:folHlink>
    </a:clrScheme>
    <a:fontScheme name="DF Síndico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DF Síndicos Profissionais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Defesa técnica — Representante Condominial Einstein</dc:title>
  <dc:subject>PptxGenJS Presentation</dc:subject>
  <dc:creator>DF Síndicos Profissionais</dc:creator>
  <cp:lastModifiedBy>DF Síndicos Profissionais</cp:lastModifiedBy>
  <cp:revision>1</cp:revision>
  <dcterms:created xsi:type="dcterms:W3CDTF">2026-10-08T05:33:18Z</dcterms:created>
  <dcterms:modified xsi:type="dcterms:W3CDTF">2026-10-08T05:33:18Z</dcterms:modified>
</cp:coreProperties>
</file>